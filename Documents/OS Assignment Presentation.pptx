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88" r:id="rId2"/>
    <p:sldId id="258" r:id="rId3"/>
    <p:sldId id="257" r:id="rId4"/>
    <p:sldId id="266" r:id="rId5"/>
    <p:sldId id="264" r:id="rId6"/>
    <p:sldId id="265" r:id="rId7"/>
    <p:sldId id="268" r:id="rId8"/>
    <p:sldId id="269" r:id="rId9"/>
    <p:sldId id="270" r:id="rId10"/>
    <p:sldId id="271" r:id="rId11"/>
    <p:sldId id="272" r:id="rId12"/>
    <p:sldId id="274" r:id="rId13"/>
    <p:sldId id="273" r:id="rId14"/>
    <p:sldId id="275" r:id="rId15"/>
    <p:sldId id="276" r:id="rId16"/>
    <p:sldId id="277" r:id="rId17"/>
    <p:sldId id="279" r:id="rId18"/>
    <p:sldId id="278" r:id="rId19"/>
    <p:sldId id="280" r:id="rId20"/>
    <p:sldId id="281" r:id="rId21"/>
    <p:sldId id="283" r:id="rId22"/>
    <p:sldId id="282" r:id="rId23"/>
    <p:sldId id="284" r:id="rId24"/>
    <p:sldId id="285" r:id="rId25"/>
    <p:sldId id="286" r:id="rId26"/>
    <p:sldId id="287" r:id="rId27"/>
    <p:sldId id="28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63" autoAdjust="0"/>
    <p:restoredTop sz="94660"/>
  </p:normalViewPr>
  <p:slideViewPr>
    <p:cSldViewPr snapToGrid="0">
      <p:cViewPr varScale="1">
        <p:scale>
          <a:sx n="75" d="100"/>
          <a:sy n="75" d="100"/>
        </p:scale>
        <p:origin x="3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5/27/2026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5/27/2026</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hyperlink" Target="https://github.com/christianvinthenga408-cell/Operating-System-Assignment-1.git"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2470680" y="956734"/>
            <a:ext cx="8915399" cy="2262781"/>
          </a:xfrm>
        </p:spPr>
        <p:txBody>
          <a:bodyPr>
            <a:normAutofit/>
          </a:bodyPr>
          <a:lstStyle/>
          <a:p>
            <a:r>
              <a:rPr lang="en-GB" sz="4800" dirty="0" smtClean="0"/>
              <a:t>EDUCATIONAL OS PROJECT</a:t>
            </a:r>
            <a:endParaRPr lang="en-GB" sz="4800" dirty="0"/>
          </a:p>
        </p:txBody>
      </p:sp>
      <p:sp>
        <p:nvSpPr>
          <p:cNvPr id="4" name="Subtitle 3"/>
          <p:cNvSpPr>
            <a:spLocks noGrp="1"/>
          </p:cNvSpPr>
          <p:nvPr>
            <p:ph type="subTitle" idx="1"/>
          </p:nvPr>
        </p:nvSpPr>
        <p:spPr>
          <a:xfrm>
            <a:off x="2470679" y="3439645"/>
            <a:ext cx="8915399" cy="1126283"/>
          </a:xfrm>
        </p:spPr>
        <p:txBody>
          <a:bodyPr>
            <a:normAutofit lnSpcReduction="10000"/>
          </a:bodyPr>
          <a:lstStyle/>
          <a:p>
            <a:r>
              <a:rPr lang="en-GB" dirty="0" smtClean="0"/>
              <a:t>Presented , prepared and written by </a:t>
            </a:r>
            <a:r>
              <a:rPr lang="en-GB" b="1" dirty="0" smtClean="0"/>
              <a:t>Christian Vinthenga</a:t>
            </a:r>
          </a:p>
          <a:p>
            <a:endParaRPr lang="en-GB" dirty="0"/>
          </a:p>
          <a:p>
            <a:r>
              <a:rPr lang="en-GB" dirty="0" smtClean="0"/>
              <a:t>25 311 351 023</a:t>
            </a:r>
            <a:endParaRPr lang="en-GB" dirty="0"/>
          </a:p>
        </p:txBody>
      </p:sp>
    </p:spTree>
    <p:extLst>
      <p:ext uri="{BB962C8B-B14F-4D97-AF65-F5344CB8AC3E}">
        <p14:creationId xmlns:p14="http://schemas.microsoft.com/office/powerpoint/2010/main" val="334387045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a:bodyPr>
          <a:lstStyle/>
          <a:p>
            <a:r>
              <a:rPr lang="en-GB" sz="4400" dirty="0" smtClean="0"/>
              <a:t>WHAT </a:t>
            </a:r>
            <a:r>
              <a:rPr lang="en-GB" sz="4400" dirty="0"/>
              <a:t>I</a:t>
            </a:r>
            <a:r>
              <a:rPr lang="en-GB" sz="4400" dirty="0" smtClean="0"/>
              <a:t> BUILT</a:t>
            </a:r>
            <a:endParaRPr lang="en-GB" sz="4400" dirty="0"/>
          </a:p>
        </p:txBody>
      </p:sp>
    </p:spTree>
    <p:extLst>
      <p:ext uri="{BB962C8B-B14F-4D97-AF65-F5344CB8AC3E}">
        <p14:creationId xmlns:p14="http://schemas.microsoft.com/office/powerpoint/2010/main" val="9831999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sp>
        <p:nvSpPr>
          <p:cNvPr id="3" name="Content Placeholder 2"/>
          <p:cNvSpPr>
            <a:spLocks noGrp="1"/>
          </p:cNvSpPr>
          <p:nvPr>
            <p:ph idx="1"/>
          </p:nvPr>
        </p:nvSpPr>
        <p:spPr>
          <a:xfrm>
            <a:off x="2079073" y="1989220"/>
            <a:ext cx="8915400" cy="3777622"/>
          </a:xfrm>
        </p:spPr>
        <p:txBody>
          <a:bodyPr>
            <a:noAutofit/>
          </a:bodyPr>
          <a:lstStyle/>
          <a:p>
            <a:r>
              <a:rPr lang="en-GB" sz="2400" smtClean="0"/>
              <a:t>I have </a:t>
            </a:r>
            <a:r>
              <a:rPr lang="en-GB" sz="2400" dirty="0" smtClean="0"/>
              <a:t>built </a:t>
            </a:r>
            <a:r>
              <a:rPr lang="en-GB" sz="2400" dirty="0"/>
              <a:t>an </a:t>
            </a:r>
            <a:r>
              <a:rPr lang="en-GB" sz="2400" b="1" dirty="0" err="1"/>
              <a:t>EduOS</a:t>
            </a:r>
            <a:r>
              <a:rPr lang="en-GB" sz="2400" b="1" dirty="0"/>
              <a:t> (Educational Operating System Simulator)</a:t>
            </a:r>
            <a:r>
              <a:rPr lang="en-GB" sz="2400" dirty="0"/>
              <a:t>.</a:t>
            </a:r>
          </a:p>
          <a:p>
            <a:r>
              <a:rPr lang="en-GB" sz="2400" dirty="0" smtClean="0"/>
              <a:t>This </a:t>
            </a:r>
            <a:r>
              <a:rPr lang="en-GB" sz="2400" dirty="0"/>
              <a:t>is a small operating-system simulation project made </a:t>
            </a:r>
            <a:r>
              <a:rPr lang="en-GB" sz="2400" dirty="0" smtClean="0"/>
              <a:t>of two different parts which is python and c programming languages</a:t>
            </a:r>
          </a:p>
          <a:p>
            <a:r>
              <a:rPr lang="en-GB" sz="2400" dirty="0" smtClean="0"/>
              <a:t>C </a:t>
            </a:r>
            <a:r>
              <a:rPr lang="en-GB" sz="2400" dirty="0"/>
              <a:t>programming language is used </a:t>
            </a:r>
            <a:r>
              <a:rPr lang="en-GB" sz="2400" dirty="0" smtClean="0"/>
              <a:t>to </a:t>
            </a:r>
            <a:r>
              <a:rPr lang="en-GB" sz="2400" dirty="0"/>
              <a:t>simulates low-level OS </a:t>
            </a:r>
            <a:r>
              <a:rPr lang="en-GB" sz="2400" dirty="0" smtClean="0"/>
              <a:t>behaviour whereby python is used handle CPU scheduling algorithms and controlling the whole OS simulator.</a:t>
            </a:r>
          </a:p>
          <a:p>
            <a:r>
              <a:rPr lang="en-GB" sz="2400" dirty="0" err="1" smtClean="0"/>
              <a:t>EduOS</a:t>
            </a:r>
            <a:r>
              <a:rPr lang="en-GB" sz="2400" dirty="0" smtClean="0"/>
              <a:t> Simulator is divided into parts which are</a:t>
            </a:r>
            <a:r>
              <a:rPr lang="en-GB" sz="2400" dirty="0"/>
              <a:t>;</a:t>
            </a:r>
          </a:p>
        </p:txBody>
      </p:sp>
    </p:spTree>
    <p:extLst>
      <p:ext uri="{BB962C8B-B14F-4D97-AF65-F5344CB8AC3E}">
        <p14:creationId xmlns:p14="http://schemas.microsoft.com/office/powerpoint/2010/main" val="381301931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37304" y="691486"/>
            <a:ext cx="6059564" cy="654714"/>
          </a:xfrm>
        </p:spPr>
        <p:txBody>
          <a:bodyPr>
            <a:normAutofit fontScale="90000"/>
          </a:bodyPr>
          <a:lstStyle/>
          <a:p>
            <a:r>
              <a:rPr lang="en-GB" b="1" dirty="0" smtClean="0"/>
              <a:t>1. C CORE SIMULATION PART</a:t>
            </a:r>
            <a:endParaRPr lang="en-GB" b="1" dirty="0"/>
          </a:p>
        </p:txBody>
      </p:sp>
      <p:sp>
        <p:nvSpPr>
          <p:cNvPr id="3" name="Content Placeholder 2"/>
          <p:cNvSpPr>
            <a:spLocks noGrp="1"/>
          </p:cNvSpPr>
          <p:nvPr>
            <p:ph idx="1"/>
          </p:nvPr>
        </p:nvSpPr>
        <p:spPr>
          <a:xfrm>
            <a:off x="1790316" y="1688066"/>
            <a:ext cx="8915400" cy="3777622"/>
          </a:xfrm>
        </p:spPr>
        <p:txBody>
          <a:bodyPr>
            <a:noAutofit/>
          </a:bodyPr>
          <a:lstStyle/>
          <a:p>
            <a:r>
              <a:rPr lang="en-GB" sz="2400" dirty="0" smtClean="0"/>
              <a:t>This comprises of c programs which are bundled together inside the file that execute all function stored inside all .c files</a:t>
            </a:r>
          </a:p>
          <a:p>
            <a:r>
              <a:rPr lang="en-GB" sz="2400" dirty="0" smtClean="0"/>
              <a:t>It contains process management where the process </a:t>
            </a:r>
            <a:r>
              <a:rPr lang="en-GB" sz="2400" dirty="0"/>
              <a:t>manager is mainly used to create Process control block (PCB) and Stores process information which are PID, arrival time, burst time , priority and also state of the process</a:t>
            </a:r>
            <a:r>
              <a:rPr lang="en-GB" sz="2400" dirty="0" smtClean="0"/>
              <a:t>.</a:t>
            </a:r>
          </a:p>
          <a:p>
            <a:r>
              <a:rPr lang="en-GB" sz="2400" dirty="0" smtClean="0"/>
              <a:t>Thread managements which focuses on which thread must use the CPU first or resolve the problem where two or more thread want to use the same resource at the same time.</a:t>
            </a:r>
          </a:p>
          <a:p>
            <a:pPr marL="0" indent="0">
              <a:buNone/>
            </a:pPr>
            <a:endParaRPr lang="en-GB" sz="2400" dirty="0"/>
          </a:p>
          <a:p>
            <a:endParaRPr lang="en-GB" sz="2400" dirty="0"/>
          </a:p>
        </p:txBody>
      </p:sp>
    </p:spTree>
    <p:extLst>
      <p:ext uri="{BB962C8B-B14F-4D97-AF65-F5344CB8AC3E}">
        <p14:creationId xmlns:p14="http://schemas.microsoft.com/office/powerpoint/2010/main" val="275237547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80314" y="2485360"/>
            <a:ext cx="5846754" cy="681173"/>
          </a:xfrm>
        </p:spPr>
        <p:txBody>
          <a:bodyPr>
            <a:normAutofit fontScale="90000"/>
          </a:bodyPr>
          <a:lstStyle/>
          <a:p>
            <a:r>
              <a:rPr lang="en-GB" b="1" dirty="0" smtClean="0"/>
              <a:t>2. PYTHON SIMULATION PART</a:t>
            </a:r>
            <a:endParaRPr lang="en-GB" b="1" dirty="0"/>
          </a:p>
        </p:txBody>
      </p:sp>
      <p:sp>
        <p:nvSpPr>
          <p:cNvPr id="4" name="Content Placeholder 3"/>
          <p:cNvSpPr>
            <a:spLocks noGrp="1"/>
          </p:cNvSpPr>
          <p:nvPr>
            <p:ph idx="1"/>
          </p:nvPr>
        </p:nvSpPr>
        <p:spPr>
          <a:xfrm>
            <a:off x="1790315" y="413704"/>
            <a:ext cx="8915400" cy="1713297"/>
          </a:xfrm>
        </p:spPr>
        <p:txBody>
          <a:bodyPr>
            <a:normAutofit/>
          </a:bodyPr>
          <a:lstStyle/>
          <a:p>
            <a:pPr marL="0" indent="0">
              <a:buNone/>
            </a:pPr>
            <a:endParaRPr lang="en-GB" sz="2400" dirty="0" smtClean="0"/>
          </a:p>
          <a:p>
            <a:r>
              <a:rPr lang="en-GB" sz="2400" dirty="0"/>
              <a:t>Inter-process-communication(IPC) which enable two or more processes to access shared resources either for writing or reading data</a:t>
            </a:r>
            <a:r>
              <a:rPr lang="en-GB" sz="2400" dirty="0" smtClean="0"/>
              <a:t>.</a:t>
            </a:r>
            <a:endParaRPr lang="en-GB" sz="2400" dirty="0"/>
          </a:p>
        </p:txBody>
      </p:sp>
      <p:sp>
        <p:nvSpPr>
          <p:cNvPr id="5" name="Content Placeholder 3"/>
          <p:cNvSpPr txBox="1">
            <a:spLocks/>
          </p:cNvSpPr>
          <p:nvPr/>
        </p:nvSpPr>
        <p:spPr>
          <a:xfrm>
            <a:off x="1790315" y="3481939"/>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GB" sz="2400" dirty="0" smtClean="0"/>
              <a:t>This is where different algorithms are implemented and later the outputs are represented using </a:t>
            </a:r>
            <a:r>
              <a:rPr lang="en-GB" sz="2400" dirty="0" err="1" smtClean="0"/>
              <a:t>gantt</a:t>
            </a:r>
            <a:r>
              <a:rPr lang="en-GB" sz="2400" dirty="0" smtClean="0"/>
              <a:t> charts, comparison bar charts, timeline animation</a:t>
            </a:r>
          </a:p>
          <a:p>
            <a:r>
              <a:rPr lang="en-GB" sz="2400" dirty="0" smtClean="0"/>
              <a:t>Main controller act as a bridge between c and python programs which also bundle both parts together and execute them together</a:t>
            </a:r>
          </a:p>
          <a:p>
            <a:endParaRPr lang="en-GB" sz="2400" dirty="0"/>
          </a:p>
        </p:txBody>
      </p:sp>
    </p:spTree>
    <p:extLst>
      <p:ext uri="{BB962C8B-B14F-4D97-AF65-F5344CB8AC3E}">
        <p14:creationId xmlns:p14="http://schemas.microsoft.com/office/powerpoint/2010/main" val="353076578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80314" y="852710"/>
            <a:ext cx="7091354" cy="764423"/>
          </a:xfrm>
        </p:spPr>
        <p:txBody>
          <a:bodyPr>
            <a:normAutofit fontScale="90000"/>
          </a:bodyPr>
          <a:lstStyle/>
          <a:p>
            <a:r>
              <a:rPr lang="en-GB" b="1" dirty="0" smtClean="0"/>
              <a:t>3. INTEGRATING C AND PYTHON</a:t>
            </a:r>
            <a:endParaRPr lang="en-GB" b="1" dirty="0"/>
          </a:p>
        </p:txBody>
      </p:sp>
      <p:sp>
        <p:nvSpPr>
          <p:cNvPr id="3" name="Content Placeholder 2"/>
          <p:cNvSpPr>
            <a:spLocks noGrp="1"/>
          </p:cNvSpPr>
          <p:nvPr>
            <p:ph idx="1"/>
          </p:nvPr>
        </p:nvSpPr>
        <p:spPr>
          <a:xfrm>
            <a:off x="2176842" y="2048933"/>
            <a:ext cx="8915400" cy="3777622"/>
          </a:xfrm>
        </p:spPr>
        <p:txBody>
          <a:bodyPr>
            <a:normAutofit/>
          </a:bodyPr>
          <a:lstStyle/>
          <a:p>
            <a:r>
              <a:rPr lang="en-GB" sz="2400" dirty="0" smtClean="0"/>
              <a:t>C and Python files are put together by the use of </a:t>
            </a:r>
            <a:r>
              <a:rPr lang="en-GB" sz="2400" dirty="0" err="1" smtClean="0"/>
              <a:t>pcb_snapshot.json</a:t>
            </a:r>
            <a:r>
              <a:rPr lang="en-GB" sz="2400" dirty="0" smtClean="0"/>
              <a:t>  which is created inside the c system.</a:t>
            </a:r>
          </a:p>
          <a:p>
            <a:r>
              <a:rPr lang="en-GB" sz="2400" dirty="0" smtClean="0"/>
              <a:t>Python scheduler read the data that is inside </a:t>
            </a:r>
            <a:r>
              <a:rPr lang="en-GB" sz="2400" dirty="0" err="1" smtClean="0"/>
              <a:t>pcb_snapshot.json</a:t>
            </a:r>
            <a:r>
              <a:rPr lang="en-GB" sz="2400" dirty="0" smtClean="0"/>
              <a:t> hence connecting two parts which are python and c parts.</a:t>
            </a:r>
          </a:p>
          <a:p>
            <a:r>
              <a:rPr lang="en-GB" sz="2400" dirty="0" smtClean="0"/>
              <a:t>This is also called full system integration since two major parts that are used to build </a:t>
            </a:r>
            <a:r>
              <a:rPr lang="en-GB" sz="2400" dirty="0" err="1" smtClean="0"/>
              <a:t>EduOS</a:t>
            </a:r>
            <a:r>
              <a:rPr lang="en-GB" sz="2400" dirty="0" smtClean="0"/>
              <a:t> are connected together forming one project</a:t>
            </a:r>
            <a:endParaRPr lang="en-GB" sz="2400" dirty="0"/>
          </a:p>
        </p:txBody>
      </p:sp>
    </p:spTree>
    <p:extLst>
      <p:ext uri="{BB962C8B-B14F-4D97-AF65-F5344CB8AC3E}">
        <p14:creationId xmlns:p14="http://schemas.microsoft.com/office/powerpoint/2010/main" val="893135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a:bodyPr>
          <a:lstStyle/>
          <a:p>
            <a:r>
              <a:rPr lang="en-GB" sz="4400" dirty="0" smtClean="0"/>
              <a:t>WHAT I LEARNED</a:t>
            </a:r>
            <a:endParaRPr lang="en-GB" sz="4400" dirty="0"/>
          </a:p>
        </p:txBody>
      </p:sp>
    </p:spTree>
    <p:extLst>
      <p:ext uri="{BB962C8B-B14F-4D97-AF65-F5344CB8AC3E}">
        <p14:creationId xmlns:p14="http://schemas.microsoft.com/office/powerpoint/2010/main" val="34842697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64049" y="200599"/>
            <a:ext cx="8911687" cy="444294"/>
          </a:xfrm>
        </p:spPr>
        <p:txBody>
          <a:bodyPr>
            <a:normAutofit fontScale="90000"/>
          </a:bodyPr>
          <a:lstStyle/>
          <a:p>
            <a:endParaRPr lang="en-GB" dirty="0"/>
          </a:p>
        </p:txBody>
      </p:sp>
      <p:sp>
        <p:nvSpPr>
          <p:cNvPr id="4" name="Content Placeholder 3"/>
          <p:cNvSpPr>
            <a:spLocks noGrp="1"/>
          </p:cNvSpPr>
          <p:nvPr>
            <p:ph idx="1"/>
          </p:nvPr>
        </p:nvSpPr>
        <p:spPr>
          <a:xfrm>
            <a:off x="2222740" y="928303"/>
            <a:ext cx="8915400" cy="4972964"/>
          </a:xfrm>
        </p:spPr>
        <p:txBody>
          <a:bodyPr>
            <a:noAutofit/>
          </a:bodyPr>
          <a:lstStyle/>
          <a:p>
            <a:r>
              <a:rPr lang="en-GB" sz="2400" dirty="0" smtClean="0"/>
              <a:t>I have learned how to link local project to </a:t>
            </a:r>
            <a:r>
              <a:rPr lang="en-GB" sz="2400" dirty="0" err="1" smtClean="0"/>
              <a:t>github</a:t>
            </a:r>
            <a:r>
              <a:rPr lang="en-GB" sz="2400" dirty="0" smtClean="0"/>
              <a:t> using commands and terminal and also how to work with </a:t>
            </a:r>
            <a:r>
              <a:rPr lang="en-GB" sz="2400" dirty="0" err="1" smtClean="0"/>
              <a:t>github</a:t>
            </a:r>
            <a:r>
              <a:rPr lang="en-GB" sz="2400" dirty="0" smtClean="0"/>
              <a:t> concerning add and removing files.</a:t>
            </a:r>
          </a:p>
          <a:p>
            <a:r>
              <a:rPr lang="en-GB" sz="2400" dirty="0" smtClean="0"/>
              <a:t>I </a:t>
            </a:r>
            <a:r>
              <a:rPr lang="en-GB" sz="2400" dirty="0"/>
              <a:t>learned that the operating system must store and manage process information before it can schedule or execute </a:t>
            </a:r>
            <a:r>
              <a:rPr lang="en-GB" sz="2400" dirty="0" smtClean="0"/>
              <a:t>anything</a:t>
            </a:r>
            <a:r>
              <a:rPr lang="en-GB" sz="2400" dirty="0"/>
              <a:t> </a:t>
            </a:r>
            <a:r>
              <a:rPr lang="en-GB" sz="2400" dirty="0" smtClean="0"/>
              <a:t>and the importance of Process Control Block</a:t>
            </a:r>
          </a:p>
          <a:p>
            <a:r>
              <a:rPr lang="en-GB" sz="2400" dirty="0" smtClean="0"/>
              <a:t>I learned how a Central Processing Unit (CPU) decides which process must execute next. </a:t>
            </a:r>
          </a:p>
          <a:p>
            <a:r>
              <a:rPr lang="en-GB" sz="2400" dirty="0" smtClean="0"/>
              <a:t>I learned how multiple threads work inside one process which is called multithreading and concurrency and also how they are able to </a:t>
            </a:r>
            <a:r>
              <a:rPr lang="en-GB" sz="2400" dirty="0"/>
              <a:t>run </a:t>
            </a:r>
            <a:r>
              <a:rPr lang="en-GB" sz="2400" dirty="0" smtClean="0"/>
              <a:t>simultaneously.</a:t>
            </a:r>
            <a:endParaRPr lang="en-GB" sz="2400" dirty="0"/>
          </a:p>
          <a:p>
            <a:pPr marL="0" indent="0">
              <a:buNone/>
            </a:pPr>
            <a:endParaRPr lang="en-GB" sz="2400" dirty="0" smtClean="0"/>
          </a:p>
          <a:p>
            <a:endParaRPr lang="en-GB" sz="2400" dirty="0"/>
          </a:p>
        </p:txBody>
      </p:sp>
    </p:spTree>
    <p:extLst>
      <p:ext uri="{BB962C8B-B14F-4D97-AF65-F5344CB8AC3E}">
        <p14:creationId xmlns:p14="http://schemas.microsoft.com/office/powerpoint/2010/main" val="30490509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fontScale="90000"/>
          </a:bodyPr>
          <a:lstStyle/>
          <a:p>
            <a:r>
              <a:rPr lang="en-GB" sz="4400" dirty="0" smtClean="0"/>
              <a:t>DESIGN DECISIONS </a:t>
            </a:r>
            <a:endParaRPr lang="en-GB" sz="4400" dirty="0"/>
          </a:p>
        </p:txBody>
      </p:sp>
    </p:spTree>
    <p:extLst>
      <p:ext uri="{BB962C8B-B14F-4D97-AF65-F5344CB8AC3E}">
        <p14:creationId xmlns:p14="http://schemas.microsoft.com/office/powerpoint/2010/main" val="17639779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723427"/>
          </a:xfrm>
        </p:spPr>
        <p:txBody>
          <a:bodyPr/>
          <a:lstStyle/>
          <a:p>
            <a:endParaRPr lang="en-GB" dirty="0"/>
          </a:p>
        </p:txBody>
      </p:sp>
      <p:sp>
        <p:nvSpPr>
          <p:cNvPr id="3" name="Content Placeholder 2"/>
          <p:cNvSpPr>
            <a:spLocks noGrp="1"/>
          </p:cNvSpPr>
          <p:nvPr>
            <p:ph idx="1"/>
          </p:nvPr>
        </p:nvSpPr>
        <p:spPr>
          <a:xfrm>
            <a:off x="2194576" y="1440315"/>
            <a:ext cx="8915400" cy="3777622"/>
          </a:xfrm>
        </p:spPr>
        <p:txBody>
          <a:bodyPr>
            <a:noAutofit/>
          </a:bodyPr>
          <a:lstStyle/>
          <a:p>
            <a:r>
              <a:rPr lang="en-GB" sz="2400" dirty="0" smtClean="0"/>
              <a:t>Process Control Block (PCB) is </a:t>
            </a:r>
            <a:r>
              <a:rPr lang="en-GB" sz="2400" dirty="0"/>
              <a:t>used since </a:t>
            </a:r>
            <a:r>
              <a:rPr lang="en-GB" sz="2400" dirty="0" smtClean="0"/>
              <a:t>it stores </a:t>
            </a:r>
            <a:r>
              <a:rPr lang="en-GB" sz="2400" dirty="0"/>
              <a:t>all information about a </a:t>
            </a:r>
            <a:r>
              <a:rPr lang="en-GB" sz="2400" dirty="0" smtClean="0"/>
              <a:t>process such as Process ID, Process state, arrival time of the process etc. which also help in context switching and process management.</a:t>
            </a:r>
          </a:p>
          <a:p>
            <a:r>
              <a:rPr lang="en-GB" sz="2400" dirty="0" smtClean="0"/>
              <a:t>POSIX is used </a:t>
            </a:r>
            <a:r>
              <a:rPr lang="en-GB" sz="2400" dirty="0"/>
              <a:t>since allows two processes to access the same memory </a:t>
            </a:r>
            <a:r>
              <a:rPr lang="en-GB" sz="2400" dirty="0" smtClean="0"/>
              <a:t>directly</a:t>
            </a:r>
            <a:r>
              <a:rPr lang="en-GB" sz="2400" dirty="0"/>
              <a:t> hence making it </a:t>
            </a:r>
            <a:r>
              <a:rPr lang="en-GB" sz="2400" dirty="0" smtClean="0"/>
              <a:t>faster </a:t>
            </a:r>
            <a:r>
              <a:rPr lang="en-GB" sz="2400" dirty="0"/>
              <a:t>than message queues </a:t>
            </a:r>
            <a:r>
              <a:rPr lang="en-GB" sz="2400" dirty="0" smtClean="0"/>
              <a:t>since POSIX has no </a:t>
            </a:r>
            <a:r>
              <a:rPr lang="en-GB" sz="2400" dirty="0"/>
              <a:t>repeated data </a:t>
            </a:r>
            <a:r>
              <a:rPr lang="en-GB" sz="2400" dirty="0" smtClean="0"/>
              <a:t>copying</a:t>
            </a:r>
          </a:p>
          <a:p>
            <a:r>
              <a:rPr lang="en-GB" sz="2400" dirty="0"/>
              <a:t>POSIX </a:t>
            </a:r>
            <a:r>
              <a:rPr lang="en-GB" sz="2400" dirty="0" smtClean="0"/>
              <a:t>is also suitable </a:t>
            </a:r>
            <a:r>
              <a:rPr lang="en-GB" sz="2400" dirty="0"/>
              <a:t>for exchanging process metrics and PCB </a:t>
            </a:r>
            <a:r>
              <a:rPr lang="en-GB" sz="2400" dirty="0" smtClean="0"/>
              <a:t>data than message queue which is slower in exchanging processes.</a:t>
            </a:r>
          </a:p>
        </p:txBody>
      </p:sp>
    </p:spTree>
    <p:extLst>
      <p:ext uri="{BB962C8B-B14F-4D97-AF65-F5344CB8AC3E}">
        <p14:creationId xmlns:p14="http://schemas.microsoft.com/office/powerpoint/2010/main" val="21193022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326373" y="412355"/>
            <a:ext cx="8911687" cy="1280890"/>
          </a:xfrm>
        </p:spPr>
        <p:txBody>
          <a:bodyPr/>
          <a:lstStyle/>
          <a:p>
            <a:pPr algn="ctr"/>
            <a:r>
              <a:rPr lang="en-GB" b="1" dirty="0" smtClean="0"/>
              <a:t>Design choices with reference to OS theory</a:t>
            </a:r>
            <a:endParaRPr lang="en-GB" b="1" dirty="0"/>
          </a:p>
        </p:txBody>
      </p:sp>
      <p:sp>
        <p:nvSpPr>
          <p:cNvPr id="5" name="Content Placeholder 4"/>
          <p:cNvSpPr>
            <a:spLocks noGrp="1"/>
          </p:cNvSpPr>
          <p:nvPr>
            <p:ph idx="1"/>
          </p:nvPr>
        </p:nvSpPr>
        <p:spPr>
          <a:xfrm>
            <a:off x="2059821" y="1693244"/>
            <a:ext cx="9444790" cy="4580555"/>
          </a:xfrm>
        </p:spPr>
        <p:txBody>
          <a:bodyPr>
            <a:noAutofit/>
          </a:bodyPr>
          <a:lstStyle/>
          <a:p>
            <a:pPr>
              <a:buAutoNum type="arabicPeriod"/>
            </a:pPr>
            <a:r>
              <a:rPr lang="en-GB" sz="2000" dirty="0" smtClean="0"/>
              <a:t>Multiple </a:t>
            </a:r>
            <a:r>
              <a:rPr lang="en-GB" sz="2000" dirty="0"/>
              <a:t>CPU </a:t>
            </a:r>
            <a:r>
              <a:rPr lang="en-GB" sz="2000" dirty="0" smtClean="0"/>
              <a:t>scheduling algorithms </a:t>
            </a:r>
            <a:r>
              <a:rPr lang="en-GB" sz="2000" dirty="0"/>
              <a:t>i</a:t>
            </a:r>
            <a:r>
              <a:rPr lang="en-GB" sz="2000" dirty="0" smtClean="0"/>
              <a:t>mplemented. This is when FCFS, SJF, Priority scheduling, Round Robin and Priority scheduling are </a:t>
            </a:r>
            <a:r>
              <a:rPr lang="en-GB" sz="2000" dirty="0"/>
              <a:t>used whereby </a:t>
            </a:r>
            <a:r>
              <a:rPr lang="en-GB" sz="2000" dirty="0" smtClean="0"/>
              <a:t>different </a:t>
            </a:r>
            <a:r>
              <a:rPr lang="en-GB" sz="2000" dirty="0"/>
              <a:t>algorithms are designed to optimize different goals</a:t>
            </a:r>
            <a:r>
              <a:rPr lang="en-GB" sz="2000" dirty="0" smtClean="0"/>
              <a:t>.</a:t>
            </a:r>
          </a:p>
          <a:p>
            <a:pPr>
              <a:buAutoNum type="arabicPeriod"/>
            </a:pPr>
            <a:r>
              <a:rPr lang="en-GB" sz="2000" dirty="0"/>
              <a:t>POSIX </a:t>
            </a:r>
            <a:r>
              <a:rPr lang="en-GB" sz="2000" dirty="0" smtClean="0"/>
              <a:t>shared memory chosen over message queues </a:t>
            </a:r>
            <a:r>
              <a:rPr lang="en-GB" sz="2000" dirty="0"/>
              <a:t>for </a:t>
            </a:r>
            <a:r>
              <a:rPr lang="en-GB" sz="2000" dirty="0" smtClean="0"/>
              <a:t>IPC. This </a:t>
            </a:r>
            <a:r>
              <a:rPr lang="en-GB" sz="2000" dirty="0"/>
              <a:t>is whereby </a:t>
            </a:r>
            <a:r>
              <a:rPr lang="en-GB" sz="2000" dirty="0" smtClean="0"/>
              <a:t>multiple </a:t>
            </a:r>
            <a:r>
              <a:rPr lang="en-GB" sz="2000" dirty="0"/>
              <a:t>processes </a:t>
            </a:r>
            <a:r>
              <a:rPr lang="en-GB" sz="2000" dirty="0" smtClean="0"/>
              <a:t>are able to </a:t>
            </a:r>
            <a:r>
              <a:rPr lang="en-GB" sz="2000" dirty="0"/>
              <a:t>access the same </a:t>
            </a:r>
            <a:r>
              <a:rPr lang="en-GB" sz="2000" dirty="0" smtClean="0"/>
              <a:t>memory </a:t>
            </a:r>
            <a:r>
              <a:rPr lang="en-GB" sz="2000" dirty="0"/>
              <a:t>directly, making </a:t>
            </a:r>
            <a:r>
              <a:rPr lang="en-GB" sz="2000" dirty="0" smtClean="0"/>
              <a:t>communication </a:t>
            </a:r>
            <a:r>
              <a:rPr lang="en-GB" sz="2000" dirty="0"/>
              <a:t>much faster and synchronization </a:t>
            </a:r>
            <a:r>
              <a:rPr lang="en-GB" sz="2000" dirty="0" smtClean="0"/>
              <a:t>is also used.</a:t>
            </a:r>
          </a:p>
          <a:p>
            <a:pPr>
              <a:buAutoNum type="arabicPeriod"/>
            </a:pPr>
            <a:r>
              <a:rPr lang="en-GB" sz="2000" dirty="0"/>
              <a:t>Fixed-Size </a:t>
            </a:r>
            <a:r>
              <a:rPr lang="en-GB" sz="2000" dirty="0" smtClean="0"/>
              <a:t>thread pool </a:t>
            </a:r>
            <a:r>
              <a:rPr lang="en-GB" sz="2000" dirty="0"/>
              <a:t>for </a:t>
            </a:r>
            <a:r>
              <a:rPr lang="en-GB" sz="2000" dirty="0" smtClean="0"/>
              <a:t>concurrency. This </a:t>
            </a:r>
            <a:r>
              <a:rPr lang="en-GB" sz="2000" dirty="0"/>
              <a:t>is when instead of creating a new thread for </a:t>
            </a:r>
            <a:r>
              <a:rPr lang="en-GB" sz="2000" dirty="0" smtClean="0"/>
              <a:t>every task, this </a:t>
            </a:r>
            <a:r>
              <a:rPr lang="en-GB" sz="2000" dirty="0"/>
              <a:t>was implemented. </a:t>
            </a:r>
            <a:r>
              <a:rPr lang="en-GB" sz="2000" dirty="0" smtClean="0"/>
              <a:t>It allows </a:t>
            </a:r>
            <a:r>
              <a:rPr lang="en-GB" sz="2000" dirty="0"/>
              <a:t>worker threads to be created once and reused, improving efficiency</a:t>
            </a:r>
            <a:r>
              <a:rPr lang="en-GB" sz="2000" dirty="0" smtClean="0"/>
              <a:t>.</a:t>
            </a:r>
          </a:p>
          <a:p>
            <a:pPr>
              <a:buAutoNum type="arabicPeriod"/>
            </a:pPr>
            <a:r>
              <a:rPr lang="en-GB" sz="2000" dirty="0" smtClean="0"/>
              <a:t>Using c </a:t>
            </a:r>
            <a:r>
              <a:rPr lang="en-GB" sz="2000" dirty="0" err="1" smtClean="0"/>
              <a:t>struct</a:t>
            </a:r>
            <a:r>
              <a:rPr lang="en-GB" sz="2000" dirty="0"/>
              <a:t> </a:t>
            </a:r>
            <a:r>
              <a:rPr lang="en-GB" sz="2000" dirty="0" smtClean="0"/>
              <a:t>which store process information such as PID, Burst time, Arrival time, Process state etc. </a:t>
            </a:r>
            <a:r>
              <a:rPr lang="en-GB" sz="2000" dirty="0"/>
              <a:t>It provides a fixed and organized memory </a:t>
            </a:r>
            <a:r>
              <a:rPr lang="en-GB" sz="2000" dirty="0" smtClean="0"/>
              <a:t>layout hence updating and accessing process information faster</a:t>
            </a:r>
          </a:p>
        </p:txBody>
      </p:sp>
      <p:sp>
        <p:nvSpPr>
          <p:cNvPr id="6" name="Rectangle 1"/>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79240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fontScale="90000"/>
          </a:bodyPr>
          <a:lstStyle/>
          <a:p>
            <a:pPr algn="ctr"/>
            <a:r>
              <a:rPr lang="en-GB" sz="4400" dirty="0" smtClean="0"/>
              <a:t>SYLLABUS MAPPING TABLE  </a:t>
            </a:r>
            <a:endParaRPr lang="en-GB" sz="4400" dirty="0"/>
          </a:p>
        </p:txBody>
      </p:sp>
    </p:spTree>
    <p:extLst>
      <p:ext uri="{BB962C8B-B14F-4D97-AF65-F5344CB8AC3E}">
        <p14:creationId xmlns:p14="http://schemas.microsoft.com/office/powerpoint/2010/main" val="352835916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55859" y="126999"/>
            <a:ext cx="8911687" cy="440268"/>
          </a:xfrm>
        </p:spPr>
        <p:txBody>
          <a:bodyPr>
            <a:normAutofit fontScale="90000"/>
          </a:bodyPr>
          <a:lstStyle/>
          <a:p>
            <a:pPr algn="ctr"/>
            <a:r>
              <a:rPr lang="en-GB" b="1" dirty="0" smtClean="0"/>
              <a:t>SYLLABUS MAPPING TABLE</a:t>
            </a:r>
            <a:endParaRPr lang="en-GB"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696992435"/>
              </p:ext>
            </p:extLst>
          </p:nvPr>
        </p:nvGraphicFramePr>
        <p:xfrm>
          <a:off x="1574799" y="660400"/>
          <a:ext cx="10236200" cy="5791562"/>
        </p:xfrm>
        <a:graphic>
          <a:graphicData uri="http://schemas.openxmlformats.org/drawingml/2006/table">
            <a:tbl>
              <a:tblPr firstRow="1" bandRow="1">
                <a:tableStyleId>{5C22544A-7EE6-4342-B048-85BDC9FD1C3A}</a:tableStyleId>
              </a:tblPr>
              <a:tblGrid>
                <a:gridCol w="3400783"/>
                <a:gridCol w="3399033"/>
                <a:gridCol w="3436384"/>
              </a:tblGrid>
              <a:tr h="389810">
                <a:tc>
                  <a:txBody>
                    <a:bodyPr/>
                    <a:lstStyle/>
                    <a:p>
                      <a:r>
                        <a:rPr lang="en-GB" dirty="0" smtClean="0"/>
                        <a:t>Syllabus Topic</a:t>
                      </a:r>
                      <a:endParaRPr lang="en-GB" dirty="0"/>
                    </a:p>
                  </a:txBody>
                  <a:tcPr/>
                </a:tc>
                <a:tc>
                  <a:txBody>
                    <a:bodyPr/>
                    <a:lstStyle/>
                    <a:p>
                      <a:r>
                        <a:rPr lang="en-GB" dirty="0" smtClean="0"/>
                        <a:t>How </a:t>
                      </a:r>
                      <a:r>
                        <a:rPr lang="en-GB" dirty="0" err="1" smtClean="0"/>
                        <a:t>EduOS</a:t>
                      </a:r>
                      <a:r>
                        <a:rPr lang="en-GB" dirty="0" smtClean="0"/>
                        <a:t> Implements It</a:t>
                      </a:r>
                      <a:endParaRPr lang="en-GB" b="0" dirty="0"/>
                    </a:p>
                  </a:txBody>
                  <a:tcPr/>
                </a:tc>
                <a:tc>
                  <a:txBody>
                    <a:bodyPr/>
                    <a:lstStyle/>
                    <a:p>
                      <a:r>
                        <a:rPr lang="en-GB" dirty="0" smtClean="0"/>
                        <a:t>File / Line Reference</a:t>
                      </a:r>
                      <a:endParaRPr lang="en-GB" dirty="0"/>
                    </a:p>
                  </a:txBody>
                  <a:tcPr/>
                </a:tc>
              </a:tr>
              <a:tr h="389810">
                <a:tc>
                  <a:txBody>
                    <a:bodyPr/>
                    <a:lstStyle/>
                    <a:p>
                      <a:r>
                        <a:rPr lang="en-GB" dirty="0" smtClean="0"/>
                        <a:t>Process control Block</a:t>
                      </a:r>
                    </a:p>
                  </a:txBody>
                  <a:tcPr/>
                </a:tc>
                <a:tc>
                  <a:txBody>
                    <a:bodyPr/>
                    <a:lstStyle/>
                    <a:p>
                      <a:r>
                        <a:rPr lang="en-GB" dirty="0" smtClean="0"/>
                        <a:t>PCB implemented using C </a:t>
                      </a:r>
                      <a:r>
                        <a:rPr lang="en-GB" dirty="0" err="1" smtClean="0"/>
                        <a:t>struct</a:t>
                      </a:r>
                      <a:r>
                        <a:rPr lang="en-GB" dirty="0" smtClean="0"/>
                        <a:t> to store process metadata</a:t>
                      </a:r>
                      <a:endParaRPr lang="en-GB" dirty="0"/>
                    </a:p>
                  </a:txBody>
                  <a:tcPr/>
                </a:tc>
                <a:tc>
                  <a:txBody>
                    <a:bodyPr/>
                    <a:lstStyle/>
                    <a:p>
                      <a:r>
                        <a:rPr lang="en-GB" dirty="0" err="1" smtClean="0"/>
                        <a:t>C_core</a:t>
                      </a:r>
                      <a:r>
                        <a:rPr lang="en-GB" dirty="0" smtClean="0"/>
                        <a:t>/</a:t>
                      </a:r>
                      <a:r>
                        <a:rPr lang="en-GB" dirty="0" err="1" smtClean="0"/>
                        <a:t>process_manager.c</a:t>
                      </a:r>
                      <a:r>
                        <a:rPr lang="en-GB" dirty="0" smtClean="0"/>
                        <a:t>, include/</a:t>
                      </a:r>
                      <a:r>
                        <a:rPr lang="en-GB" dirty="0" err="1" smtClean="0"/>
                        <a:t>eduos.h</a:t>
                      </a:r>
                      <a:endParaRPr lang="en-GB" dirty="0"/>
                    </a:p>
                  </a:txBody>
                  <a:tcPr/>
                </a:tc>
              </a:tr>
              <a:tr h="68511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Process state and management</a:t>
                      </a:r>
                    </a:p>
                  </a:txBody>
                  <a:tcPr/>
                </a:tc>
                <a:tc>
                  <a:txBody>
                    <a:bodyPr/>
                    <a:lstStyle/>
                    <a:p>
                      <a:r>
                        <a:rPr lang="en-GB" dirty="0" smtClean="0"/>
                        <a:t>Tracks process lifecycle creates, stores, &amp;</a:t>
                      </a:r>
                      <a:r>
                        <a:rPr lang="en-GB" baseline="0" dirty="0" smtClean="0"/>
                        <a:t> </a:t>
                      </a:r>
                      <a:r>
                        <a:rPr lang="en-GB" dirty="0" smtClean="0"/>
                        <a:t>exports process information to JSON</a:t>
                      </a:r>
                      <a:endParaRPr lang="en-GB" dirty="0"/>
                    </a:p>
                  </a:txBody>
                  <a:tcPr/>
                </a:tc>
                <a:tc>
                  <a:txBody>
                    <a:bodyPr/>
                    <a:lstStyle/>
                    <a:p>
                      <a:r>
                        <a:rPr lang="en-GB" dirty="0" err="1" smtClean="0"/>
                        <a:t>C_core</a:t>
                      </a:r>
                      <a:r>
                        <a:rPr lang="en-GB" dirty="0" smtClean="0"/>
                        <a:t>/</a:t>
                      </a:r>
                      <a:r>
                        <a:rPr lang="en-GB" dirty="0" err="1" smtClean="0"/>
                        <a:t>process_manager.c</a:t>
                      </a:r>
                      <a:endParaRPr lang="en-GB" dirty="0"/>
                    </a:p>
                  </a:txBody>
                  <a:tcPr/>
                </a:tc>
              </a:tr>
              <a:tr h="67282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Scheduling algorithms</a:t>
                      </a:r>
                    </a:p>
                    <a:p>
                      <a:endParaRPr lang="en-GB" dirty="0"/>
                    </a:p>
                  </a:txBody>
                  <a:tcPr/>
                </a:tc>
                <a:tc>
                  <a:txBody>
                    <a:bodyPr/>
                    <a:lstStyle/>
                    <a:p>
                      <a:r>
                        <a:rPr lang="en-GB" dirty="0" smtClean="0"/>
                        <a:t>Simulates process scheduling using multiple algorithms</a:t>
                      </a:r>
                      <a:endParaRPr lang="en-GB" dirty="0"/>
                    </a:p>
                  </a:txBody>
                  <a:tcPr/>
                </a:tc>
                <a:tc>
                  <a:txBody>
                    <a:bodyPr/>
                    <a:lstStyle/>
                    <a:p>
                      <a:r>
                        <a:rPr lang="en-GB" dirty="0" smtClean="0"/>
                        <a:t>Python_scheduler/scheduler_sim.py</a:t>
                      </a:r>
                      <a:endParaRPr lang="en-GB" dirty="0"/>
                    </a:p>
                  </a:txBody>
                  <a:tcPr/>
                </a:tc>
              </a:tr>
              <a:tr h="67282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Inter-process communication </a:t>
                      </a:r>
                    </a:p>
                  </a:txBody>
                  <a:tcPr/>
                </a:tc>
                <a:tc>
                  <a:txBody>
                    <a:bodyPr/>
                    <a:lstStyle/>
                    <a:p>
                      <a:r>
                        <a:rPr lang="en-GB" dirty="0" smtClean="0"/>
                        <a:t>Implements communication between processes</a:t>
                      </a:r>
                      <a:endParaRPr lang="en-GB" dirty="0"/>
                    </a:p>
                  </a:txBody>
                  <a:tcPr/>
                </a:tc>
                <a:tc>
                  <a:txBody>
                    <a:bodyPr/>
                    <a:lstStyle/>
                    <a:p>
                      <a:r>
                        <a:rPr lang="en-GB" dirty="0" err="1" smtClean="0"/>
                        <a:t>C_core</a:t>
                      </a:r>
                      <a:r>
                        <a:rPr lang="en-GB" dirty="0" smtClean="0"/>
                        <a:t>/</a:t>
                      </a:r>
                      <a:r>
                        <a:rPr lang="en-GB" dirty="0" err="1" smtClean="0"/>
                        <a:t>ipc_module.c</a:t>
                      </a:r>
                      <a:endParaRPr lang="en-GB" dirty="0"/>
                    </a:p>
                  </a:txBody>
                  <a:tcPr/>
                </a:tc>
              </a:tr>
              <a:tr h="576285">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Multithreading basics</a:t>
                      </a:r>
                    </a:p>
                  </a:txBody>
                  <a:tcPr/>
                </a:tc>
                <a:tc>
                  <a:txBody>
                    <a:bodyPr/>
                    <a:lstStyle/>
                    <a:p>
                      <a:r>
                        <a:rPr lang="en-GB" dirty="0" smtClean="0"/>
                        <a:t>Creates and manages POSIX threads</a:t>
                      </a:r>
                      <a:endParaRPr lang="en-GB" dirty="0"/>
                    </a:p>
                  </a:txBody>
                  <a:tcPr/>
                </a:tc>
                <a:tc>
                  <a:txBody>
                    <a:bodyPr/>
                    <a:lstStyle/>
                    <a:p>
                      <a:r>
                        <a:rPr lang="en-GB" dirty="0" err="1" smtClean="0"/>
                        <a:t>C_core</a:t>
                      </a:r>
                      <a:r>
                        <a:rPr lang="en-GB" dirty="0" smtClean="0"/>
                        <a:t>/</a:t>
                      </a:r>
                      <a:r>
                        <a:rPr lang="en-GB" dirty="0" err="1" smtClean="0"/>
                        <a:t>thread_manager.c</a:t>
                      </a:r>
                      <a:endParaRPr lang="en-GB" dirty="0"/>
                    </a:p>
                  </a:txBody>
                  <a:tcPr/>
                </a:tc>
              </a:tr>
              <a:tr h="67282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Thread creation and libraries</a:t>
                      </a:r>
                    </a:p>
                  </a:txBody>
                  <a:tcPr/>
                </a:tc>
                <a:tc>
                  <a:txBody>
                    <a:bodyPr/>
                    <a:lstStyle/>
                    <a:p>
                      <a:r>
                        <a:rPr lang="en-GB" dirty="0" smtClean="0"/>
                        <a:t>Uses </a:t>
                      </a:r>
                      <a:r>
                        <a:rPr lang="en-GB" dirty="0" err="1" smtClean="0"/>
                        <a:t>pthread_create</a:t>
                      </a:r>
                      <a:r>
                        <a:rPr lang="en-GB" dirty="0" smtClean="0"/>
                        <a:t>() to run concurrent tasks</a:t>
                      </a:r>
                      <a:endParaRPr lang="en-GB" dirty="0"/>
                    </a:p>
                  </a:txBody>
                  <a:tcPr/>
                </a:tc>
                <a:tc>
                  <a:txBody>
                    <a:bodyPr/>
                    <a:lstStyle/>
                    <a:p>
                      <a:r>
                        <a:rPr lang="en-GB" dirty="0" err="1" smtClean="0"/>
                        <a:t>C_core</a:t>
                      </a:r>
                      <a:r>
                        <a:rPr lang="en-GB" dirty="0" smtClean="0"/>
                        <a:t>/</a:t>
                      </a:r>
                      <a:r>
                        <a:rPr lang="en-GB" dirty="0" err="1" smtClean="0"/>
                        <a:t>thread_manager.c</a:t>
                      </a:r>
                      <a:endParaRPr lang="en-GB" dirty="0"/>
                    </a:p>
                  </a:txBody>
                  <a:tcPr/>
                </a:tc>
              </a:tr>
              <a:tr h="67282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dirty="0" smtClean="0"/>
                        <a:t>Race and fixed condition</a:t>
                      </a:r>
                    </a:p>
                    <a:p>
                      <a:endParaRPr lang="en-GB" dirty="0" smtClean="0"/>
                    </a:p>
                  </a:txBody>
                  <a:tcPr/>
                </a:tc>
                <a:tc>
                  <a:txBody>
                    <a:bodyPr/>
                    <a:lstStyle/>
                    <a:p>
                      <a:r>
                        <a:rPr lang="en-GB" dirty="0" smtClean="0"/>
                        <a:t>Shows</a:t>
                      </a:r>
                      <a:r>
                        <a:rPr lang="en-GB" baseline="0" dirty="0" smtClean="0"/>
                        <a:t> safe/</a:t>
                      </a:r>
                      <a:r>
                        <a:rPr lang="en-GB" dirty="0" smtClean="0"/>
                        <a:t>unsafe shared counter updates with</a:t>
                      </a:r>
                      <a:r>
                        <a:rPr lang="en-GB" baseline="0" dirty="0" smtClean="0"/>
                        <a:t> and without</a:t>
                      </a:r>
                      <a:r>
                        <a:rPr lang="en-GB" dirty="0" smtClean="0"/>
                        <a:t> synchronization</a:t>
                      </a:r>
                      <a:endParaRPr lang="en-GB" dirty="0"/>
                    </a:p>
                  </a:txBody>
                  <a:tcPr/>
                </a:tc>
                <a:tc>
                  <a:txBody>
                    <a:bodyPr/>
                    <a:lstStyle/>
                    <a:p>
                      <a:r>
                        <a:rPr lang="en-GB" dirty="0" err="1" smtClean="0"/>
                        <a:t>C_core</a:t>
                      </a:r>
                      <a:r>
                        <a:rPr lang="en-GB" dirty="0" smtClean="0"/>
                        <a:t>/</a:t>
                      </a:r>
                      <a:r>
                        <a:rPr lang="en-GB" dirty="0" err="1" smtClean="0"/>
                        <a:t>thread_manager_race.c</a:t>
                      </a:r>
                      <a:r>
                        <a:rPr lang="en-GB" dirty="0" smtClean="0"/>
                        <a:t> &amp; </a:t>
                      </a:r>
                      <a:r>
                        <a:rPr lang="en-GB" dirty="0" err="1" smtClean="0"/>
                        <a:t>thread_manager_fixed.c</a:t>
                      </a:r>
                      <a:endParaRPr lang="en-GB" dirty="0"/>
                    </a:p>
                  </a:txBody>
                  <a:tcPr/>
                </a:tc>
              </a:tr>
            </a:tbl>
          </a:graphicData>
        </a:graphic>
      </p:graphicFrame>
    </p:spTree>
    <p:extLst>
      <p:ext uri="{BB962C8B-B14F-4D97-AF65-F5344CB8AC3E}">
        <p14:creationId xmlns:p14="http://schemas.microsoft.com/office/powerpoint/2010/main" val="34355073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fontScale="90000"/>
          </a:bodyPr>
          <a:lstStyle/>
          <a:p>
            <a:pPr algn="ctr"/>
            <a:r>
              <a:rPr lang="en-GB" sz="4400" dirty="0" smtClean="0"/>
              <a:t>SCHEDULING RESULTS &amp; ANALYSIS</a:t>
            </a:r>
            <a:endParaRPr lang="en-GB" sz="4400" dirty="0"/>
          </a:p>
        </p:txBody>
      </p:sp>
    </p:spTree>
    <p:extLst>
      <p:ext uri="{BB962C8B-B14F-4D97-AF65-F5344CB8AC3E}">
        <p14:creationId xmlns:p14="http://schemas.microsoft.com/office/powerpoint/2010/main" val="62774270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592924" y="280121"/>
            <a:ext cx="8911687" cy="778792"/>
          </a:xfrm>
        </p:spPr>
        <p:txBody>
          <a:bodyPr>
            <a:normAutofit/>
          </a:bodyPr>
          <a:lstStyle/>
          <a:p>
            <a:r>
              <a:rPr lang="en-GB" b="1" dirty="0" smtClean="0"/>
              <a:t>FCFS &amp; SJF Result and Analysis</a:t>
            </a:r>
            <a:endParaRPr lang="en-GB" b="1" dirty="0"/>
          </a:p>
        </p:txBody>
      </p:sp>
      <p:sp>
        <p:nvSpPr>
          <p:cNvPr id="4" name="Text Placeholder 3"/>
          <p:cNvSpPr>
            <a:spLocks noGrp="1"/>
          </p:cNvSpPr>
          <p:nvPr>
            <p:ph type="body" idx="1"/>
          </p:nvPr>
        </p:nvSpPr>
        <p:spPr>
          <a:xfrm>
            <a:off x="2657184" y="1146701"/>
            <a:ext cx="3992732" cy="597069"/>
          </a:xfrm>
        </p:spPr>
        <p:txBody>
          <a:bodyPr/>
          <a:lstStyle/>
          <a:p>
            <a:r>
              <a:rPr lang="en-GB" dirty="0" smtClean="0"/>
              <a:t>FCFS results and analysis</a:t>
            </a:r>
            <a:endParaRPr lang="en-GB" dirty="0"/>
          </a:p>
        </p:txBody>
      </p:sp>
      <p:pic>
        <p:nvPicPr>
          <p:cNvPr id="8" name="Content Placeholder 7"/>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306516" y="1741670"/>
            <a:ext cx="4343400" cy="868680"/>
          </a:xfrm>
        </p:spPr>
      </p:pic>
      <p:sp>
        <p:nvSpPr>
          <p:cNvPr id="6" name="Text Placeholder 5"/>
          <p:cNvSpPr>
            <a:spLocks noGrp="1"/>
          </p:cNvSpPr>
          <p:nvPr>
            <p:ph type="body" sz="quarter" idx="3"/>
          </p:nvPr>
        </p:nvSpPr>
        <p:spPr>
          <a:xfrm>
            <a:off x="7404582" y="1187267"/>
            <a:ext cx="3999001" cy="576262"/>
          </a:xfrm>
        </p:spPr>
        <p:txBody>
          <a:bodyPr/>
          <a:lstStyle/>
          <a:p>
            <a:r>
              <a:rPr lang="en-GB" dirty="0" smtClean="0"/>
              <a:t>SJF results and analysis</a:t>
            </a:r>
            <a:endParaRPr lang="en-GB" dirty="0"/>
          </a:p>
        </p:txBody>
      </p:sp>
      <p:sp>
        <p:nvSpPr>
          <p:cNvPr id="7" name="Content Placeholder 6"/>
          <p:cNvSpPr>
            <a:spLocks noGrp="1"/>
          </p:cNvSpPr>
          <p:nvPr>
            <p:ph sz="quarter" idx="4"/>
          </p:nvPr>
        </p:nvSpPr>
        <p:spPr>
          <a:xfrm>
            <a:off x="2277533" y="2696188"/>
            <a:ext cx="4718325" cy="4060212"/>
          </a:xfrm>
        </p:spPr>
        <p:txBody>
          <a:bodyPr>
            <a:normAutofit/>
          </a:bodyPr>
          <a:lstStyle/>
          <a:p>
            <a:r>
              <a:rPr lang="en-GB" dirty="0" smtClean="0"/>
              <a:t>First process that reaches the CPU are executed first before others</a:t>
            </a:r>
          </a:p>
          <a:p>
            <a:r>
              <a:rPr lang="en-GB" dirty="0" smtClean="0"/>
              <a:t>These processes are put in a queue so that they can be executed one by one to the end before moving to the next process</a:t>
            </a:r>
          </a:p>
          <a:p>
            <a:r>
              <a:rPr lang="en-GB" dirty="0" smtClean="0"/>
              <a:t>P1, P2, P3, P4 and P5 are process that are executed in order depending on first come first serve criteria</a:t>
            </a:r>
          </a:p>
          <a:p>
            <a:r>
              <a:rPr lang="en-GB" dirty="0" smtClean="0"/>
              <a:t>It has highest waiting </a:t>
            </a:r>
            <a:r>
              <a:rPr lang="en-GB" dirty="0"/>
              <a:t>time of </a:t>
            </a:r>
            <a:r>
              <a:rPr lang="en-GB" dirty="0" smtClean="0"/>
              <a:t>6.50 since processes wait for each other</a:t>
            </a:r>
            <a:endParaRPr lang="en-GB" dirty="0"/>
          </a:p>
        </p:txBody>
      </p:sp>
      <p:sp>
        <p:nvSpPr>
          <p:cNvPr id="9" name="Content Placeholder 6"/>
          <p:cNvSpPr txBox="1">
            <a:spLocks/>
          </p:cNvSpPr>
          <p:nvPr/>
        </p:nvSpPr>
        <p:spPr>
          <a:xfrm>
            <a:off x="7319356" y="2698138"/>
            <a:ext cx="4492949" cy="335406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GB" dirty="0"/>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5359" y="1779441"/>
            <a:ext cx="4168224" cy="830909"/>
          </a:xfrm>
          <a:prstGeom prst="rect">
            <a:avLst/>
          </a:prstGeom>
        </p:spPr>
      </p:pic>
      <p:sp>
        <p:nvSpPr>
          <p:cNvPr id="11" name="Content Placeholder 6"/>
          <p:cNvSpPr txBox="1">
            <a:spLocks/>
          </p:cNvSpPr>
          <p:nvPr/>
        </p:nvSpPr>
        <p:spPr>
          <a:xfrm>
            <a:off x="7115608" y="2785926"/>
            <a:ext cx="4576948" cy="335406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GB" dirty="0" smtClean="0"/>
              <a:t>First process always execute first even without following the algorithm criteria.</a:t>
            </a:r>
          </a:p>
          <a:p>
            <a:r>
              <a:rPr lang="en-GB" dirty="0" smtClean="0"/>
              <a:t>This is where processes given to CPU to execute, are executed in order depending on how short these processes are.</a:t>
            </a:r>
          </a:p>
          <a:p>
            <a:r>
              <a:rPr lang="en-GB" dirty="0" smtClean="0"/>
              <a:t>Processes that take less time execute first before others</a:t>
            </a:r>
          </a:p>
          <a:p>
            <a:r>
              <a:rPr lang="en-GB" dirty="0" smtClean="0"/>
              <a:t>It has lowest </a:t>
            </a:r>
            <a:r>
              <a:rPr lang="en-GB" dirty="0"/>
              <a:t>waiting time of 4.25</a:t>
            </a:r>
          </a:p>
        </p:txBody>
      </p:sp>
    </p:spTree>
    <p:extLst>
      <p:ext uri="{BB962C8B-B14F-4D97-AF65-F5344CB8AC3E}">
        <p14:creationId xmlns:p14="http://schemas.microsoft.com/office/powerpoint/2010/main" val="96114096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92924" y="624110"/>
            <a:ext cx="8911687" cy="595090"/>
          </a:xfrm>
        </p:spPr>
        <p:txBody>
          <a:bodyPr>
            <a:normAutofit fontScale="90000"/>
          </a:bodyPr>
          <a:lstStyle/>
          <a:p>
            <a:r>
              <a:rPr lang="en-GB" b="1" dirty="0" smtClean="0"/>
              <a:t>RR &amp; Priority Results and Analysis</a:t>
            </a:r>
            <a:endParaRPr lang="en-GB" b="1" dirty="0"/>
          </a:p>
        </p:txBody>
      </p:sp>
      <p:sp>
        <p:nvSpPr>
          <p:cNvPr id="3" name="Text Placeholder 2"/>
          <p:cNvSpPr>
            <a:spLocks noGrp="1"/>
          </p:cNvSpPr>
          <p:nvPr>
            <p:ph type="body" idx="1"/>
          </p:nvPr>
        </p:nvSpPr>
        <p:spPr>
          <a:xfrm>
            <a:off x="2448859" y="1306206"/>
            <a:ext cx="3992732" cy="576262"/>
          </a:xfrm>
        </p:spPr>
        <p:txBody>
          <a:bodyPr/>
          <a:lstStyle/>
          <a:p>
            <a:r>
              <a:rPr lang="en-GB" dirty="0" smtClean="0"/>
              <a:t>RR results and analysis</a:t>
            </a:r>
            <a:endParaRPr lang="en-GB" dirty="0"/>
          </a:p>
        </p:txBody>
      </p:sp>
      <p:pic>
        <p:nvPicPr>
          <p:cNvPr id="7" name="Content Placeholder 6"/>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2448859" y="1882468"/>
            <a:ext cx="4343400" cy="868680"/>
          </a:xfrm>
        </p:spPr>
      </p:pic>
      <p:sp>
        <p:nvSpPr>
          <p:cNvPr id="5" name="Text Placeholder 4"/>
          <p:cNvSpPr>
            <a:spLocks noGrp="1"/>
          </p:cNvSpPr>
          <p:nvPr>
            <p:ph type="body" sz="quarter" idx="3"/>
          </p:nvPr>
        </p:nvSpPr>
        <p:spPr>
          <a:xfrm>
            <a:off x="7379977" y="1306206"/>
            <a:ext cx="3999001" cy="576262"/>
          </a:xfrm>
        </p:spPr>
        <p:txBody>
          <a:bodyPr/>
          <a:lstStyle/>
          <a:p>
            <a:r>
              <a:rPr lang="en-GB" dirty="0" smtClean="0"/>
              <a:t>Priority results &amp; analysis</a:t>
            </a:r>
            <a:endParaRPr lang="en-GB" dirty="0"/>
          </a:p>
        </p:txBody>
      </p:sp>
      <p:sp>
        <p:nvSpPr>
          <p:cNvPr id="6" name="Content Placeholder 5"/>
          <p:cNvSpPr>
            <a:spLocks noGrp="1"/>
          </p:cNvSpPr>
          <p:nvPr>
            <p:ph sz="quarter" idx="4"/>
          </p:nvPr>
        </p:nvSpPr>
        <p:spPr>
          <a:xfrm>
            <a:off x="7048767" y="2751148"/>
            <a:ext cx="4669100" cy="3354060"/>
          </a:xfrm>
        </p:spPr>
        <p:txBody>
          <a:bodyPr/>
          <a:lstStyle/>
          <a:p>
            <a:r>
              <a:rPr lang="en-GB" dirty="0"/>
              <a:t>Processes </a:t>
            </a:r>
            <a:r>
              <a:rPr lang="en-GB" dirty="0" smtClean="0"/>
              <a:t>that has </a:t>
            </a:r>
            <a:r>
              <a:rPr lang="en-GB" dirty="0"/>
              <a:t>higher priority </a:t>
            </a:r>
            <a:r>
              <a:rPr lang="en-GB" dirty="0" smtClean="0"/>
              <a:t>are the ones which CPU execute first before other, </a:t>
            </a:r>
            <a:r>
              <a:rPr lang="en-GB" dirty="0"/>
              <a:t>even if they are longer</a:t>
            </a:r>
            <a:r>
              <a:rPr lang="en-GB" dirty="0" smtClean="0"/>
              <a:t>.</a:t>
            </a:r>
          </a:p>
          <a:p>
            <a:r>
              <a:rPr lang="en-GB" dirty="0"/>
              <a:t>This improves urgent task responsiveness but may increase average waiting time for others</a:t>
            </a:r>
            <a:r>
              <a:rPr lang="en-GB" dirty="0" smtClean="0"/>
              <a:t>.</a:t>
            </a:r>
          </a:p>
          <a:p>
            <a:r>
              <a:rPr lang="en-GB" dirty="0"/>
              <a:t>Priority scheduling performed better than FCFS but not always better than </a:t>
            </a:r>
            <a:r>
              <a:rPr lang="en-GB" dirty="0" smtClean="0"/>
              <a:t>SJF</a:t>
            </a:r>
            <a:r>
              <a:rPr lang="en-GB" dirty="0"/>
              <a:t> </a:t>
            </a:r>
            <a:r>
              <a:rPr lang="en-GB" dirty="0" smtClean="0"/>
              <a:t>and It has average waiting time of 5</a:t>
            </a:r>
            <a:endParaRPr lang="en-GB" dirty="0"/>
          </a:p>
        </p:txBody>
      </p:sp>
      <p:sp>
        <p:nvSpPr>
          <p:cNvPr id="8" name="Content Placeholder 6"/>
          <p:cNvSpPr txBox="1">
            <a:spLocks/>
          </p:cNvSpPr>
          <p:nvPr/>
        </p:nvSpPr>
        <p:spPr>
          <a:xfrm>
            <a:off x="2459447" y="2751148"/>
            <a:ext cx="4508620" cy="335406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GB" dirty="0" smtClean="0"/>
              <a:t>This is where processes given to the CPU are given a fixed unit of time where each process can use for execution before moving to the next process</a:t>
            </a:r>
          </a:p>
          <a:p>
            <a:r>
              <a:rPr lang="en-GB" dirty="0" smtClean="0"/>
              <a:t>All process are give 2 unit of time to execute and next process start execute even if the running process has not completed executing </a:t>
            </a:r>
          </a:p>
          <a:p>
            <a:r>
              <a:rPr lang="en-GB" dirty="0" smtClean="0"/>
              <a:t>The have higher waiting time which is lower comparing to FCFS </a:t>
            </a:r>
            <a:r>
              <a:rPr lang="en-GB" dirty="0" err="1" smtClean="0"/>
              <a:t>wt</a:t>
            </a:r>
            <a:endParaRPr lang="en-GB" dirty="0"/>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92971" y="1876875"/>
            <a:ext cx="4250266" cy="812812"/>
          </a:xfrm>
          <a:prstGeom prst="rect">
            <a:avLst/>
          </a:prstGeom>
        </p:spPr>
      </p:pic>
    </p:spTree>
    <p:extLst>
      <p:ext uri="{BB962C8B-B14F-4D97-AF65-F5344CB8AC3E}">
        <p14:creationId xmlns:p14="http://schemas.microsoft.com/office/powerpoint/2010/main" val="39935438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675467" y="2914387"/>
            <a:ext cx="7713133" cy="1280890"/>
          </a:xfrm>
        </p:spPr>
        <p:txBody>
          <a:bodyPr>
            <a:normAutofit fontScale="90000"/>
          </a:bodyPr>
          <a:lstStyle/>
          <a:p>
            <a:pPr algn="ctr"/>
            <a:r>
              <a:rPr lang="en-GB" sz="4400" dirty="0" smtClean="0"/>
              <a:t>ALGO WITH LOWEST WT, WHY &amp; </a:t>
            </a:r>
            <a:r>
              <a:rPr lang="en-GB" sz="4000" dirty="0" smtClean="0"/>
              <a:t>WHEN WOULD A DIFFERENT ALGO WIN</a:t>
            </a:r>
            <a:endParaRPr lang="en-GB" sz="4400" dirty="0"/>
          </a:p>
        </p:txBody>
      </p:sp>
    </p:spTree>
    <p:extLst>
      <p:ext uri="{BB962C8B-B14F-4D97-AF65-F5344CB8AC3E}">
        <p14:creationId xmlns:p14="http://schemas.microsoft.com/office/powerpoint/2010/main" val="331854673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2592925" y="524933"/>
            <a:ext cx="8911687" cy="922867"/>
          </a:xfrm>
        </p:spPr>
        <p:txBody>
          <a:bodyPr/>
          <a:lstStyle/>
          <a:p>
            <a:endParaRPr lang="en-GB" dirty="0"/>
          </a:p>
        </p:txBody>
      </p:sp>
      <p:sp>
        <p:nvSpPr>
          <p:cNvPr id="8" name="Content Placeholder 7"/>
          <p:cNvSpPr>
            <a:spLocks noGrp="1"/>
          </p:cNvSpPr>
          <p:nvPr>
            <p:ph idx="1"/>
          </p:nvPr>
        </p:nvSpPr>
        <p:spPr>
          <a:xfrm>
            <a:off x="2326745" y="1574800"/>
            <a:ext cx="8915400" cy="4463422"/>
          </a:xfrm>
        </p:spPr>
        <p:txBody>
          <a:bodyPr>
            <a:normAutofit/>
          </a:bodyPr>
          <a:lstStyle/>
          <a:p>
            <a:r>
              <a:rPr lang="en-GB" sz="2000" dirty="0" smtClean="0"/>
              <a:t>Short job first algorithm (SJF) is the one that has the lowest waiting time since processes that takes less time to execute are executed first before the other on the same given dataset.</a:t>
            </a:r>
          </a:p>
          <a:p>
            <a:r>
              <a:rPr lang="en-GB" sz="2000" dirty="0"/>
              <a:t>FCFS would win </a:t>
            </a:r>
            <a:r>
              <a:rPr lang="en-GB" sz="2000" dirty="0" smtClean="0"/>
              <a:t>when simplicity </a:t>
            </a:r>
            <a:r>
              <a:rPr lang="en-GB" sz="2000" dirty="0"/>
              <a:t>is </a:t>
            </a:r>
            <a:r>
              <a:rPr lang="en-GB" sz="2000" dirty="0" smtClean="0"/>
              <a:t>important, all </a:t>
            </a:r>
            <a:r>
              <a:rPr lang="en-GB" sz="2000" dirty="0"/>
              <a:t>burst times </a:t>
            </a:r>
            <a:r>
              <a:rPr lang="en-GB" sz="2000" dirty="0" smtClean="0"/>
              <a:t>of the processes are similar and when scheduling </a:t>
            </a:r>
            <a:r>
              <a:rPr lang="en-GB" sz="2000" dirty="0"/>
              <a:t>overhead </a:t>
            </a:r>
            <a:r>
              <a:rPr lang="en-GB" sz="2000" dirty="0" smtClean="0"/>
              <a:t>is supposed to be minimal.</a:t>
            </a:r>
          </a:p>
          <a:p>
            <a:r>
              <a:rPr lang="en-GB" sz="2000" dirty="0"/>
              <a:t>Priority Scheduling would win </a:t>
            </a:r>
            <a:r>
              <a:rPr lang="en-GB" sz="2000" dirty="0" smtClean="0"/>
              <a:t>when urgent </a:t>
            </a:r>
            <a:r>
              <a:rPr lang="en-GB" sz="2000" dirty="0"/>
              <a:t>tasks must run </a:t>
            </a:r>
            <a:r>
              <a:rPr lang="en-GB" sz="2000" dirty="0" smtClean="0"/>
              <a:t>first, real-time </a:t>
            </a:r>
            <a:r>
              <a:rPr lang="en-GB" sz="2000" dirty="0"/>
              <a:t>or critical processes </a:t>
            </a:r>
            <a:r>
              <a:rPr lang="en-GB" sz="2000" dirty="0" smtClean="0"/>
              <a:t>exist for example operating system interrupts can always execute first since it has higher priority.</a:t>
            </a:r>
          </a:p>
          <a:p>
            <a:r>
              <a:rPr lang="en-GB" sz="2000" dirty="0"/>
              <a:t>Round Robin would win </a:t>
            </a:r>
            <a:r>
              <a:rPr lang="en-GB" sz="2000" dirty="0" smtClean="0"/>
              <a:t>when system </a:t>
            </a:r>
            <a:r>
              <a:rPr lang="en-GB" sz="2000" dirty="0"/>
              <a:t>is </a:t>
            </a:r>
            <a:r>
              <a:rPr lang="en-GB" sz="2000" dirty="0" smtClean="0"/>
              <a:t>more interactive, users </a:t>
            </a:r>
            <a:r>
              <a:rPr lang="en-GB" sz="2000" dirty="0"/>
              <a:t>need quick response </a:t>
            </a:r>
            <a:r>
              <a:rPr lang="en-GB" sz="2000" dirty="0" smtClean="0"/>
              <a:t>time, fairness matters more than minimum waiting time </a:t>
            </a:r>
            <a:r>
              <a:rPr lang="en-GB" sz="2000" dirty="0"/>
              <a:t>for example desktop operating systems</a:t>
            </a:r>
            <a:endParaRPr lang="en-GB" sz="2000" dirty="0" smtClean="0"/>
          </a:p>
          <a:p>
            <a:endParaRPr lang="en-GB" sz="2000" dirty="0"/>
          </a:p>
          <a:p>
            <a:endParaRPr lang="en-GB" sz="2000" dirty="0"/>
          </a:p>
          <a:p>
            <a:endParaRPr lang="en-GB" sz="2000" dirty="0" smtClean="0"/>
          </a:p>
          <a:p>
            <a:endParaRPr lang="en-GB" sz="2000" dirty="0" smtClean="0"/>
          </a:p>
          <a:p>
            <a:endParaRPr lang="en-GB" sz="2000" dirty="0"/>
          </a:p>
        </p:txBody>
      </p:sp>
    </p:spTree>
    <p:extLst>
      <p:ext uri="{BB962C8B-B14F-4D97-AF65-F5344CB8AC3E}">
        <p14:creationId xmlns:p14="http://schemas.microsoft.com/office/powerpoint/2010/main" val="246914759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fontScale="90000"/>
          </a:bodyPr>
          <a:lstStyle/>
          <a:p>
            <a:pPr algn="ctr"/>
            <a:r>
              <a:rPr lang="en-GB" sz="4400" dirty="0" smtClean="0"/>
              <a:t>THREADING ISSUES ENCOUNTERED  </a:t>
            </a:r>
            <a:endParaRPr lang="en-GB" sz="4400" dirty="0"/>
          </a:p>
        </p:txBody>
      </p:sp>
    </p:spTree>
    <p:extLst>
      <p:ext uri="{BB962C8B-B14F-4D97-AF65-F5344CB8AC3E}">
        <p14:creationId xmlns:p14="http://schemas.microsoft.com/office/powerpoint/2010/main" val="6043357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253326" y="463243"/>
            <a:ext cx="6254742" cy="620490"/>
          </a:xfrm>
        </p:spPr>
        <p:txBody>
          <a:bodyPr>
            <a:normAutofit/>
          </a:bodyPr>
          <a:lstStyle/>
          <a:p>
            <a:r>
              <a:rPr lang="en-GB" sz="2800" b="1" dirty="0" smtClean="0"/>
              <a:t>RACE CONDITION &amp; HOW TO FIX IT.</a:t>
            </a:r>
            <a:endParaRPr lang="en-GB" sz="2800" b="1" dirty="0"/>
          </a:p>
        </p:txBody>
      </p:sp>
      <p:sp>
        <p:nvSpPr>
          <p:cNvPr id="4" name="Content Placeholder 3"/>
          <p:cNvSpPr>
            <a:spLocks noGrp="1"/>
          </p:cNvSpPr>
          <p:nvPr>
            <p:ph idx="1"/>
          </p:nvPr>
        </p:nvSpPr>
        <p:spPr>
          <a:xfrm>
            <a:off x="2419879" y="1176867"/>
            <a:ext cx="8915400" cy="4851400"/>
          </a:xfrm>
        </p:spPr>
        <p:txBody>
          <a:bodyPr>
            <a:noAutofit/>
          </a:bodyPr>
          <a:lstStyle/>
          <a:p>
            <a:r>
              <a:rPr lang="en-GB" sz="2000" dirty="0" smtClean="0"/>
              <a:t>Race condition is when multiple threads are accessing and modify shared data without proper  synchronisation. This is one of the threading issues that is encountered when working with multiple threads and it is a major concurrency problem which is implemented in </a:t>
            </a:r>
            <a:r>
              <a:rPr lang="en-GB" sz="2000" dirty="0" err="1" smtClean="0"/>
              <a:t>thread_manager_race.c</a:t>
            </a:r>
            <a:r>
              <a:rPr lang="en-GB" sz="2000" dirty="0" smtClean="0"/>
              <a:t> </a:t>
            </a:r>
          </a:p>
          <a:p>
            <a:r>
              <a:rPr lang="en-GB" sz="2000" dirty="0" smtClean="0"/>
              <a:t>Multiple threads are created using </a:t>
            </a:r>
            <a:r>
              <a:rPr lang="en-GB" sz="2000" dirty="0" err="1" smtClean="0"/>
              <a:t>pthread_create</a:t>
            </a:r>
            <a:r>
              <a:rPr lang="en-GB" sz="2000" dirty="0" smtClean="0"/>
              <a:t>() function where each thread attempted to update the same shared variable. Hence making their operations to overlap unpredictably.</a:t>
            </a:r>
          </a:p>
          <a:p>
            <a:r>
              <a:rPr lang="en-GB" sz="2000" dirty="0" smtClean="0"/>
              <a:t>The output of threads of each execution changes because threads overwrite  each other`s updates before they are fully completed.</a:t>
            </a:r>
          </a:p>
          <a:p>
            <a:r>
              <a:rPr lang="en-GB" sz="2000" dirty="0" smtClean="0"/>
              <a:t>This problem is fixed using a </a:t>
            </a:r>
            <a:r>
              <a:rPr lang="en-GB" sz="2000" dirty="0" err="1" smtClean="0"/>
              <a:t>mutex</a:t>
            </a:r>
            <a:r>
              <a:rPr lang="en-GB" sz="2000" dirty="0" smtClean="0"/>
              <a:t> in </a:t>
            </a:r>
            <a:r>
              <a:rPr lang="en-GB" sz="2000" dirty="0" err="1" smtClean="0"/>
              <a:t>thread_manager_fixed.c</a:t>
            </a:r>
            <a:r>
              <a:rPr lang="en-GB" sz="2000" dirty="0" smtClean="0"/>
              <a:t>  where a critical section is protected. It works by enabling one thread to enter the critical section at a time hence producing stable and correct output after running</a:t>
            </a:r>
          </a:p>
          <a:p>
            <a:endParaRPr lang="en-GB" sz="2000" dirty="0" smtClean="0"/>
          </a:p>
          <a:p>
            <a:endParaRPr lang="en-GB" sz="2000" dirty="0"/>
          </a:p>
        </p:txBody>
      </p:sp>
    </p:spTree>
    <p:extLst>
      <p:ext uri="{BB962C8B-B14F-4D97-AF65-F5344CB8AC3E}">
        <p14:creationId xmlns:p14="http://schemas.microsoft.com/office/powerpoint/2010/main" val="30074764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713867" y="2914387"/>
            <a:ext cx="5025873" cy="1280890"/>
          </a:xfrm>
        </p:spPr>
        <p:txBody>
          <a:bodyPr>
            <a:normAutofit fontScale="90000"/>
          </a:bodyPr>
          <a:lstStyle/>
          <a:p>
            <a:pPr algn="ctr"/>
            <a:r>
              <a:rPr lang="en-GB" sz="4400" dirty="0" smtClean="0"/>
              <a:t>C </a:t>
            </a:r>
            <a:r>
              <a:rPr lang="en-GB" sz="4400" dirty="0" err="1" smtClean="0"/>
              <a:t>vs</a:t>
            </a:r>
            <a:r>
              <a:rPr lang="en-GB" sz="4400" dirty="0" smtClean="0"/>
              <a:t> PYTHON: Lessons Learned</a:t>
            </a:r>
            <a:endParaRPr lang="en-GB" sz="4400" dirty="0"/>
          </a:p>
        </p:txBody>
      </p:sp>
    </p:spTree>
    <p:extLst>
      <p:ext uri="{BB962C8B-B14F-4D97-AF65-F5344CB8AC3E}">
        <p14:creationId xmlns:p14="http://schemas.microsoft.com/office/powerpoint/2010/main" val="118873171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4724" y="234643"/>
            <a:ext cx="8911687" cy="281823"/>
          </a:xfrm>
        </p:spPr>
        <p:txBody>
          <a:bodyPr>
            <a:noAutofit/>
          </a:bodyPr>
          <a:lstStyle/>
          <a:p>
            <a:r>
              <a:rPr lang="en-GB" sz="2000" b="1" dirty="0" smtClean="0"/>
              <a:t>WHAT I HAVE LEARNED ABOUT C &amp; PYTHON</a:t>
            </a:r>
            <a:endParaRPr lang="en-GB" sz="2000" b="1" dirty="0"/>
          </a:p>
        </p:txBody>
      </p:sp>
      <p:sp>
        <p:nvSpPr>
          <p:cNvPr id="3" name="Content Placeholder 2"/>
          <p:cNvSpPr>
            <a:spLocks noGrp="1"/>
          </p:cNvSpPr>
          <p:nvPr>
            <p:ph idx="1"/>
          </p:nvPr>
        </p:nvSpPr>
        <p:spPr>
          <a:xfrm>
            <a:off x="1617133" y="592667"/>
            <a:ext cx="9887479" cy="6036733"/>
          </a:xfrm>
        </p:spPr>
        <p:txBody>
          <a:bodyPr/>
          <a:lstStyle/>
          <a:p>
            <a:r>
              <a:rPr lang="en-GB" dirty="0" smtClean="0"/>
              <a:t>Implementing </a:t>
            </a:r>
            <a:r>
              <a:rPr lang="en-GB" dirty="0" err="1" smtClean="0"/>
              <a:t>EduOS</a:t>
            </a:r>
            <a:r>
              <a:rPr lang="en-GB" dirty="0" smtClean="0"/>
              <a:t> in both C&amp; Python demonstrates the difference between low-level and high-level programming . </a:t>
            </a:r>
          </a:p>
          <a:p>
            <a:r>
              <a:rPr lang="en-GB" dirty="0" smtClean="0"/>
              <a:t>Process management&amp; threading in c requires manual handling of resources and synchronisation. For example, </a:t>
            </a:r>
            <a:r>
              <a:rPr lang="en-GB" dirty="0" err="1" smtClean="0"/>
              <a:t>thread_manager_race.c</a:t>
            </a:r>
            <a:r>
              <a:rPr lang="en-GB" dirty="0" smtClean="0"/>
              <a:t> </a:t>
            </a:r>
            <a:r>
              <a:rPr lang="en-GB" dirty="0" err="1" smtClean="0"/>
              <a:t>showrace</a:t>
            </a:r>
            <a:r>
              <a:rPr lang="en-GB" dirty="0" smtClean="0"/>
              <a:t> condition which produce inconsistent results and </a:t>
            </a:r>
            <a:r>
              <a:rPr lang="en-GB" dirty="0" err="1" smtClean="0"/>
              <a:t>thread_manager_fixed.c</a:t>
            </a:r>
            <a:r>
              <a:rPr lang="en-GB" dirty="0" smtClean="0"/>
              <a:t> is used to fix he race condition using </a:t>
            </a:r>
            <a:r>
              <a:rPr lang="en-GB" dirty="0" err="1" smtClean="0"/>
              <a:t>mutex</a:t>
            </a:r>
            <a:r>
              <a:rPr lang="en-GB" dirty="0" smtClean="0"/>
              <a:t> locks.</a:t>
            </a:r>
          </a:p>
          <a:p>
            <a:r>
              <a:rPr lang="en-GB" dirty="0" smtClean="0"/>
              <a:t>Shared memory and pipes in </a:t>
            </a:r>
            <a:r>
              <a:rPr lang="en-GB" dirty="0" err="1" smtClean="0"/>
              <a:t>ipc_module.c</a:t>
            </a:r>
            <a:r>
              <a:rPr lang="en-GB" dirty="0" smtClean="0"/>
              <a:t> requires direct interaction with operating system resources which helps in internal working of IPC.  The implementation provide deeper understanding of concurrency, resource management.</a:t>
            </a:r>
          </a:p>
          <a:p>
            <a:r>
              <a:rPr lang="en-GB" dirty="0" smtClean="0"/>
              <a:t>Same scheduling concepts in python is much easier to implement. In scheduler_sim.py, ready queue is managed using python lists &amp; objects instead  of manual memory management. </a:t>
            </a:r>
            <a:endParaRPr lang="en-GB" dirty="0"/>
          </a:p>
          <a:p>
            <a:r>
              <a:rPr lang="en-GB" dirty="0" smtClean="0"/>
              <a:t>Scheduling  Algorithms are written more quickly and clear and these algorithms can be converted  into visualisation  through the use of gantt.py where python modules  </a:t>
            </a:r>
            <a:r>
              <a:rPr lang="en-GB" dirty="0" err="1" smtClean="0"/>
              <a:t>Matplotlib</a:t>
            </a:r>
            <a:r>
              <a:rPr lang="en-GB" dirty="0" smtClean="0"/>
              <a:t> are used to generate charts and comparison graphs.</a:t>
            </a:r>
          </a:p>
          <a:p>
            <a:r>
              <a:rPr lang="en-GB" dirty="0" smtClean="0"/>
              <a:t>Overall, C provides low-level control and understanding of operating internals, while python improved readability development and visualisation. Using both programming languages together provides experience with different abstraction levels.</a:t>
            </a:r>
          </a:p>
          <a:p>
            <a:endParaRPr lang="en-GB" dirty="0"/>
          </a:p>
        </p:txBody>
      </p:sp>
    </p:spTree>
    <p:extLst>
      <p:ext uri="{BB962C8B-B14F-4D97-AF65-F5344CB8AC3E}">
        <p14:creationId xmlns:p14="http://schemas.microsoft.com/office/powerpoint/2010/main" val="33985759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971801" y="2914387"/>
            <a:ext cx="6849532" cy="1280890"/>
          </a:xfrm>
        </p:spPr>
        <p:txBody>
          <a:bodyPr>
            <a:normAutofit fontScale="90000"/>
          </a:bodyPr>
          <a:lstStyle/>
          <a:p>
            <a:r>
              <a:rPr lang="en-GB" sz="4400" dirty="0" smtClean="0"/>
              <a:t>CHALLENGES &amp; SOLUTIONS</a:t>
            </a:r>
            <a:endParaRPr lang="en-GB" sz="4400" dirty="0"/>
          </a:p>
        </p:txBody>
      </p:sp>
    </p:spTree>
    <p:extLst>
      <p:ext uri="{BB962C8B-B14F-4D97-AF65-F5344CB8AC3E}">
        <p14:creationId xmlns:p14="http://schemas.microsoft.com/office/powerpoint/2010/main" val="96596662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182542" y="480176"/>
            <a:ext cx="8911687" cy="271240"/>
          </a:xfrm>
        </p:spPr>
        <p:txBody>
          <a:bodyPr>
            <a:noAutofit/>
          </a:bodyPr>
          <a:lstStyle/>
          <a:p>
            <a:r>
              <a:rPr lang="en-GB" sz="2000" b="1" dirty="0" smtClean="0"/>
              <a:t>CHALLENGES AND SOLUTIONS</a:t>
            </a:r>
            <a:endParaRPr lang="en-GB" sz="2000" b="1" dirty="0"/>
          </a:p>
        </p:txBody>
      </p:sp>
      <p:sp>
        <p:nvSpPr>
          <p:cNvPr id="4" name="Content Placeholder 3"/>
          <p:cNvSpPr>
            <a:spLocks noGrp="1"/>
          </p:cNvSpPr>
          <p:nvPr>
            <p:ph idx="1"/>
          </p:nvPr>
        </p:nvSpPr>
        <p:spPr>
          <a:xfrm>
            <a:off x="1847850" y="971550"/>
            <a:ext cx="9656762" cy="5467350"/>
          </a:xfrm>
        </p:spPr>
        <p:txBody>
          <a:bodyPr/>
          <a:lstStyle/>
          <a:p>
            <a:pPr>
              <a:buAutoNum type="arabicPeriod"/>
            </a:pPr>
            <a:r>
              <a:rPr lang="en-GB" dirty="0" smtClean="0"/>
              <a:t>Header file not found inside </a:t>
            </a:r>
            <a:r>
              <a:rPr lang="en-GB" dirty="0" err="1" smtClean="0"/>
              <a:t>eduos.h</a:t>
            </a:r>
            <a:r>
              <a:rPr lang="en-GB" dirty="0" smtClean="0"/>
              <a:t> While compiling the C modules GCC produce error like “No such file or directory”  . This problems occur because the header file that in supposed to be present or used in one of the C programs is not available inside he file that holds all header files used in </a:t>
            </a:r>
            <a:r>
              <a:rPr lang="en-GB" dirty="0" err="1" smtClean="0"/>
              <a:t>C_core</a:t>
            </a:r>
            <a:r>
              <a:rPr lang="en-GB" dirty="0" smtClean="0"/>
              <a:t>/ . This was fixed by placing the needed header file inside the </a:t>
            </a:r>
            <a:r>
              <a:rPr lang="en-GB" dirty="0" err="1" smtClean="0"/>
              <a:t>eduos.h</a:t>
            </a:r>
            <a:r>
              <a:rPr lang="en-GB" dirty="0" smtClean="0"/>
              <a:t> and using the correct code in compilation.</a:t>
            </a:r>
          </a:p>
          <a:p>
            <a:pPr>
              <a:buAutoNum type="arabicPeriod"/>
            </a:pPr>
            <a:r>
              <a:rPr lang="en-GB" dirty="0" smtClean="0"/>
              <a:t>Failing to save generated images automatically. Generated charts by gantt.py fails to save themselves because the output directory did not exist. This can be solved by using exact path written in </a:t>
            </a:r>
            <a:r>
              <a:rPr lang="en-GB" dirty="0" err="1" smtClean="0"/>
              <a:t>os.makedirs</a:t>
            </a:r>
            <a:r>
              <a:rPr lang="en-GB" dirty="0" smtClean="0"/>
              <a:t>(). And make sure that .</a:t>
            </a:r>
            <a:r>
              <a:rPr lang="en-GB" dirty="0" err="1" smtClean="0"/>
              <a:t>png</a:t>
            </a:r>
            <a:r>
              <a:rPr lang="en-GB" dirty="0" smtClean="0"/>
              <a:t> and .gif files are stored successfully.</a:t>
            </a:r>
          </a:p>
          <a:p>
            <a:pPr>
              <a:buFont typeface="Wingdings 3" charset="2"/>
              <a:buAutoNum type="arabicPeriod"/>
            </a:pPr>
            <a:r>
              <a:rPr lang="en-GB" dirty="0"/>
              <a:t>Using a different local name to the one that is used as repository name. This problem lead to the creation of new repository which is wrong </a:t>
            </a:r>
            <a:r>
              <a:rPr lang="en-GB" dirty="0" smtClean="0"/>
              <a:t>hence invited </a:t>
            </a:r>
            <a:r>
              <a:rPr lang="en-GB" dirty="0"/>
              <a:t>a </a:t>
            </a:r>
            <a:r>
              <a:rPr lang="en-GB" dirty="0" smtClean="0"/>
              <a:t>collaborator  in one repository may not have access to another repository without invitation. </a:t>
            </a:r>
            <a:r>
              <a:rPr lang="en-GB" dirty="0"/>
              <a:t>Using the same name for both repository and local project and make sure that the collaborator is in the right repository before linking the </a:t>
            </a:r>
            <a:r>
              <a:rPr lang="en-GB" dirty="0" err="1"/>
              <a:t>github</a:t>
            </a:r>
            <a:r>
              <a:rPr lang="en-GB" dirty="0"/>
              <a:t> repository to the local project.</a:t>
            </a:r>
          </a:p>
          <a:p>
            <a:pPr lvl="0">
              <a:buFont typeface="Wingdings 3" charset="2"/>
              <a:buAutoNum type="arabicPeriod"/>
            </a:pPr>
            <a:endParaRPr lang="en-GB" dirty="0"/>
          </a:p>
        </p:txBody>
      </p:sp>
    </p:spTree>
    <p:extLst>
      <p:ext uri="{BB962C8B-B14F-4D97-AF65-F5344CB8AC3E}">
        <p14:creationId xmlns:p14="http://schemas.microsoft.com/office/powerpoint/2010/main" val="87326480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81401" y="2846653"/>
            <a:ext cx="6849532" cy="1280890"/>
          </a:xfrm>
        </p:spPr>
        <p:txBody>
          <a:bodyPr>
            <a:normAutofit/>
          </a:bodyPr>
          <a:lstStyle/>
          <a:p>
            <a:r>
              <a:rPr lang="en-GB" sz="4400" dirty="0" smtClean="0"/>
              <a:t>GITHUB SUMMARY</a:t>
            </a:r>
            <a:endParaRPr lang="en-GB" sz="4400" dirty="0"/>
          </a:p>
        </p:txBody>
      </p:sp>
    </p:spTree>
    <p:extLst>
      <p:ext uri="{BB962C8B-B14F-4D97-AF65-F5344CB8AC3E}">
        <p14:creationId xmlns:p14="http://schemas.microsoft.com/office/powerpoint/2010/main" val="89458721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a:xfrm>
            <a:off x="1771650" y="624110"/>
            <a:ext cx="9732961" cy="442690"/>
          </a:xfrm>
        </p:spPr>
        <p:txBody>
          <a:bodyPr>
            <a:noAutofit/>
          </a:bodyPr>
          <a:lstStyle/>
          <a:p>
            <a:r>
              <a:rPr lang="en-GB" sz="2800" b="1" dirty="0" smtClean="0"/>
              <a:t>LINK, COMMITS &amp; BRANCHING STRATEGY USED</a:t>
            </a:r>
            <a:endParaRPr lang="en-GB" sz="2800" b="1" dirty="0"/>
          </a:p>
        </p:txBody>
      </p:sp>
      <p:sp>
        <p:nvSpPr>
          <p:cNvPr id="9" name="Content Placeholder 8"/>
          <p:cNvSpPr>
            <a:spLocks noGrp="1"/>
          </p:cNvSpPr>
          <p:nvPr>
            <p:ph sz="half" idx="1"/>
          </p:nvPr>
        </p:nvSpPr>
        <p:spPr>
          <a:xfrm>
            <a:off x="1771650" y="1600200"/>
            <a:ext cx="5131426" cy="4857750"/>
          </a:xfrm>
        </p:spPr>
        <p:txBody>
          <a:bodyPr/>
          <a:lstStyle/>
          <a:p>
            <a:r>
              <a:rPr lang="en-GB" dirty="0" smtClean="0"/>
              <a:t>Repository </a:t>
            </a:r>
            <a:r>
              <a:rPr lang="en-GB" dirty="0"/>
              <a:t>URL : </a:t>
            </a:r>
            <a:r>
              <a:rPr lang="en-GB" dirty="0">
                <a:hlinkClick r:id="rId2"/>
              </a:rPr>
              <a:t>https://</a:t>
            </a:r>
            <a:r>
              <a:rPr lang="en-GB" dirty="0" smtClean="0">
                <a:hlinkClick r:id="rId2"/>
              </a:rPr>
              <a:t>github.com/christianvinthenga408-cell/Operating-System-Assignment-1.git</a:t>
            </a:r>
            <a:endParaRPr lang="en-GB" dirty="0" smtClean="0"/>
          </a:p>
          <a:p>
            <a:r>
              <a:rPr lang="en-GB" dirty="0" smtClean="0"/>
              <a:t>Total commits : 16 commits </a:t>
            </a:r>
          </a:p>
          <a:p>
            <a:r>
              <a:rPr lang="en-GB" dirty="0" smtClean="0"/>
              <a:t>Screenshot of the last 15 commits</a:t>
            </a:r>
          </a:p>
          <a:p>
            <a:endParaRPr lang="en-GB" dirty="0" smtClean="0"/>
          </a:p>
          <a:p>
            <a:endParaRPr lang="en-GB" dirty="0" smtClean="0"/>
          </a:p>
          <a:p>
            <a:pPr marL="0" indent="0">
              <a:buNone/>
            </a:pPr>
            <a:endParaRPr lang="en-GB" dirty="0"/>
          </a:p>
        </p:txBody>
      </p:sp>
      <p:pic>
        <p:nvPicPr>
          <p:cNvPr id="11" name="Content Placeholder 10"/>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771650" y="3434793"/>
            <a:ext cx="5131426" cy="2364874"/>
          </a:xfrm>
        </p:spPr>
      </p:pic>
      <p:sp>
        <p:nvSpPr>
          <p:cNvPr id="13" name="Rectangle 12"/>
          <p:cNvSpPr/>
          <p:nvPr/>
        </p:nvSpPr>
        <p:spPr>
          <a:xfrm>
            <a:off x="6903076" y="1502688"/>
            <a:ext cx="4984124" cy="5355312"/>
          </a:xfrm>
          <a:prstGeom prst="rect">
            <a:avLst/>
          </a:prstGeom>
        </p:spPr>
        <p:txBody>
          <a:bodyPr wrap="square">
            <a:spAutoFit/>
          </a:bodyPr>
          <a:lstStyle/>
          <a:p>
            <a:pPr marL="342900" indent="-342900">
              <a:buAutoNum type="arabicPeriod"/>
            </a:pPr>
            <a:r>
              <a:rPr lang="en-GB" dirty="0" smtClean="0"/>
              <a:t>It uses single-branch development strategy which focuses on developing major components step by step and tested before moving to the next feature.</a:t>
            </a:r>
          </a:p>
          <a:p>
            <a:pPr marL="342900" indent="-342900">
              <a:buAutoNum type="arabicPeriod"/>
            </a:pPr>
            <a:r>
              <a:rPr lang="en-GB" dirty="0" smtClean="0"/>
              <a:t>This branching strategy involves setting up the structure, creating PCB and process management module, implement threading condition, developing </a:t>
            </a:r>
            <a:r>
              <a:rPr lang="en-GB" dirty="0" err="1" smtClean="0"/>
              <a:t>ipc</a:t>
            </a:r>
            <a:r>
              <a:rPr lang="en-GB" dirty="0" smtClean="0"/>
              <a:t> module, implementing scheduling algorithms in python, generating charts and graphs and writing documentation and reports</a:t>
            </a:r>
          </a:p>
          <a:p>
            <a:pPr marL="342900" indent="-342900">
              <a:buAutoNum type="arabicPeriod"/>
            </a:pPr>
            <a:r>
              <a:rPr lang="en-GB" dirty="0" smtClean="0"/>
              <a:t>This strategy helped in maintaining organisation and consistency throughout the development process.</a:t>
            </a:r>
            <a:endParaRPr lang="en-GB" dirty="0"/>
          </a:p>
          <a:p>
            <a:endParaRPr lang="en-GB" dirty="0"/>
          </a:p>
          <a:p>
            <a:endParaRPr lang="en-GB" dirty="0"/>
          </a:p>
          <a:p>
            <a:endParaRPr lang="en-GB" dirty="0"/>
          </a:p>
        </p:txBody>
      </p:sp>
    </p:spTree>
    <p:extLst>
      <p:ext uri="{BB962C8B-B14F-4D97-AF65-F5344CB8AC3E}">
        <p14:creationId xmlns:p14="http://schemas.microsoft.com/office/powerpoint/2010/main" val="31370247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3972992" y="2774644"/>
            <a:ext cx="4637608" cy="722089"/>
          </a:xfrm>
        </p:spPr>
        <p:txBody>
          <a:bodyPr>
            <a:noAutofit/>
          </a:bodyPr>
          <a:lstStyle/>
          <a:p>
            <a:r>
              <a:rPr lang="en-GB" sz="4000" b="1" dirty="0" smtClean="0">
                <a:latin typeface="Californian FB" panose="0207040306080B030204" pitchFamily="18" charset="0"/>
              </a:rPr>
              <a:t>THANKS FELLAS!</a:t>
            </a:r>
            <a:endParaRPr lang="en-GB" sz="4000" b="1" dirty="0">
              <a:latin typeface="Californian FB" panose="0207040306080B030204" pitchFamily="18" charset="0"/>
            </a:endParaRPr>
          </a:p>
        </p:txBody>
      </p:sp>
    </p:spTree>
    <p:extLst>
      <p:ext uri="{BB962C8B-B14F-4D97-AF65-F5344CB8AC3E}">
        <p14:creationId xmlns:p14="http://schemas.microsoft.com/office/powerpoint/2010/main" val="186316379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751</TotalTime>
  <Words>1811</Words>
  <Application>Microsoft Office PowerPoint</Application>
  <PresentationFormat>Widescreen</PresentationFormat>
  <Paragraphs>121</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Californian FB</vt:lpstr>
      <vt:lpstr>Century Gothic</vt:lpstr>
      <vt:lpstr>Wingdings 3</vt:lpstr>
      <vt:lpstr>Wisp</vt:lpstr>
      <vt:lpstr>EDUCATIONAL OS PROJECT</vt:lpstr>
      <vt:lpstr>WHAT I BUILT</vt:lpstr>
      <vt:lpstr>PowerPoint Presentation</vt:lpstr>
      <vt:lpstr>1. C CORE SIMULATION PART</vt:lpstr>
      <vt:lpstr>2. PYTHON SIMULATION PART</vt:lpstr>
      <vt:lpstr>3. INTEGRATING C AND PYTHON</vt:lpstr>
      <vt:lpstr>WHAT I LEARNED</vt:lpstr>
      <vt:lpstr>PowerPoint Presentation</vt:lpstr>
      <vt:lpstr>DESIGN DECISIONS </vt:lpstr>
      <vt:lpstr>PowerPoint Presentation</vt:lpstr>
      <vt:lpstr>Design choices with reference to OS theory</vt:lpstr>
      <vt:lpstr>SYLLABUS MAPPING TABLE  </vt:lpstr>
      <vt:lpstr>SYLLABUS MAPPING TABLE</vt:lpstr>
      <vt:lpstr>SCHEDULING RESULTS &amp; ANALYSIS</vt:lpstr>
      <vt:lpstr>FCFS &amp; SJF Result and Analysis</vt:lpstr>
      <vt:lpstr>RR &amp; Priority Results and Analysis</vt:lpstr>
      <vt:lpstr>ALGO WITH LOWEST WT, WHY &amp; WHEN WOULD A DIFFERENT ALGO WIN</vt:lpstr>
      <vt:lpstr>PowerPoint Presentation</vt:lpstr>
      <vt:lpstr>THREADING ISSUES ENCOUNTERED  </vt:lpstr>
      <vt:lpstr>RACE CONDITION &amp; HOW TO FIX IT.</vt:lpstr>
      <vt:lpstr>C vs PYTHON: Lessons Learned</vt:lpstr>
      <vt:lpstr>WHAT I HAVE LEARNED ABOUT C &amp; PYTHON</vt:lpstr>
      <vt:lpstr>CHALLENGES &amp; SOLUTIONS</vt:lpstr>
      <vt:lpstr>CHALLENGES AND SOLUTIONS</vt:lpstr>
      <vt:lpstr>GITHUB SUMMARY</vt:lpstr>
      <vt:lpstr>LINK, COMMITS &amp; BRANCHING STRATEGY USED</vt:lpstr>
      <vt:lpstr>THANKS FELLAS!</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lenovo</cp:lastModifiedBy>
  <cp:revision>372</cp:revision>
  <dcterms:created xsi:type="dcterms:W3CDTF">2026-05-25T13:03:57Z</dcterms:created>
  <dcterms:modified xsi:type="dcterms:W3CDTF">2026-05-27T21:08:27Z</dcterms:modified>
</cp:coreProperties>
</file>